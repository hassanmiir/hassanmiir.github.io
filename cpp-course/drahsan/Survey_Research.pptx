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5459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walk through the full process of survey research using a questionnaire: planning, sampling, writing questions, ethical approval, piloting, collecting and analysing data, and reporting. By the end you should be able to plan your own small survey study.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Survey research is the most widely used quantitative method in the social sciences, education, health and business. The key idea is standardisation: everyone answers the same questions in the same way, so answers can be counted and compared. A questionnaire is the instrument; the survey is the whole process. Mention the trade-off: breadth over depth. If you need deep "why" explanations, interviews or focus groups may be better, or a mixed-methods design.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roadmap for the rest of the lecture. Each step depends on the one before: poor objectives lead to poor questions, and a poor sample limits what you can conclude. Step 4, ethical approval, is highlighted because no data, not even pilot data, should be collected before approval. The one-line summary at the bottom is an easy way for students to remember the sequence.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a survey flows from the research problem. Move from broad to specific: problem, aim, objectives, research questions (or hypotheses). Objectives should be specific and measurable, often starting with verbs like measure, compare, identify, examine. A useful exercise: ask students to draft one aim and two objectives for a topic of their choice. Also stress the literature review here: it shapes the problem and often provides existing validated scales.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define the target population precisely, for example "full-time undergraduate students at University X in 2026". The sampling frame is the actual list you sample from. Probability methods allow you to generalise to the population; non-probability methods are cheaper and common in student projects but limit generalisation, which must be stated as a limitation. For sample size, Yamane's formula gives a quick estimate; alternatives are Krejcie and Morgan's table or an online sample-size calculator. Worked example: 2000 times 0.05 squared is 5, plus 1 is 6, and 2000 divided by 6 is about 333.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Closed questions (the first four) are quick to answer and easy to analyse; open-ended questions give richer detail but take longer to code. Most questionnaires are mainly closed with one or two open questions. Likert scales usually have 5 or 7 points. Where possible, use existing validated scales from published studies rather than writing new ones, and cite them. Show students the "Avoid" examples and ask them to rewrite each one correctly. For example, the double-barrelled question becomes two separate questions.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early questions set the tone and affect whether people finish. Put demographics at the end because they are boring and can feel personal. Keep the questionnaire as short as possible; around 10 to 15 minutes is a good target for most student surveys. For mode, online tools such as Google Forms, Microsoft Forms or Qualtrics are most common today, but think about who might be excluded. Mixed modes, for example online plus paper, can improve coverage.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research involving human participants needs ethical review, and this includes student projects and pilot studies. The exact process, forms and names differ between institutions: it may be called a Research Ethics Committee, Ethics Review Board or, in the United States, an Institutional Review Board. Some low-risk anonymous surveys may get a fast-track or exemption, but the committee decides that, not the researcher. The participant information sheet explains the purpose, what participation involves, risks, how data will be stored and used, and who to contact. In online surveys, consent is often a tick box on the first page. Extra care and parental consent are needed for children and vulnerable groups. Under GDPR in the EU, collect only the personal data you need and say how long you will keep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pilot is a rehearsal. Pilot respondents should resemble the real sample but are usually not included in the final data. Ask them which questions were confusing, missing or uncomfortable. Validity: content validity is checked by experts reviewing the items against the objectives; construct validity can be checked statistically, for example with factor analysis. Reliability: for multi-item Likert scales, Cronbach's alpha of 0.70 or higher is the usual rule of thumb. During collection, report the response rate; for example 250 completed out of 500 invited is 50 percent. Low response rates raise the risk of non-response bias.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analysis, build a codebook that lists each variable, its question and its codes, and remember to reverse-code negatively worded items. Descriptive statistics summarise what respondents said; inferential statistics test whether differences or relationships are likely to hold in the population, which is only fully justified with probability samples. Choose the test by variable type: chi-square for two categorical variables, t-test or ANOVA to compare group means, correlation or regression for relationships. In the report, the methods section must state the sampling method, sample size, response rate, the questionnaire source and the ethics approval reference. Always discuss limitations honestly. Close by inviting questions, and perhaps set an exercise: design a 10-question survey on a campus topic.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1B2A3A"/>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9550"/>
            <a:ext cx="10566400" cy="4165650"/>
          </a:xfrm>
          <a:prstGeom prst="rect">
            <a:avLst/>
          </a:prstGeom>
          <a:noFill/>
          <a:ln/>
        </p:spPr>
        <p:txBody>
          <a:bodyPr wrap="square" lIns="0" tIns="0" rIns="0" bIns="0" rtlCol="0" anchor="t"/>
          <a:lstStyle>
            <a:lvl1pPr marL="0" indent="0" algn="l">
              <a:lnSpc>
                <a:spcPct val="140000"/>
              </a:lnSpc>
              <a:buNone/>
              <a:defRPr lang="en-US" sz="1600" dirty="0">
                <a:solidFill>
                  <a:srgbClr val="1B2A3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1B2A3A"/>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9550"/>
            <a:ext cx="10566400" cy="4165650"/>
          </a:xfrm>
          <a:prstGeom prst="rect">
            <a:avLst/>
          </a:prstGeom>
          <a:noFill/>
          <a:ln/>
        </p:spPr>
        <p:txBody>
          <a:bodyPr wrap="square" lIns="0" tIns="0" rIns="0" bIns="0" rtlCol="0" anchor="t"/>
          <a:lstStyle>
            <a:lvl1pPr marL="0" indent="0" algn="l">
              <a:lnSpc>
                <a:spcPct val="140000"/>
              </a:lnSpc>
              <a:buNone/>
              <a:defRPr lang="en-US" sz="1600" dirty="0">
                <a:solidFill>
                  <a:srgbClr val="1B2A3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A"/>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8955A"/>
          </a:solidFill>
          <a:ln/>
        </p:spPr>
      </p:sp>
      <p:sp>
        <p:nvSpPr>
          <p:cNvPr id="3" name="Text 1"/>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A46A"/>
                </a:solidFill>
                <a:latin typeface="+mj-lt"/>
                <a:ea typeface="IBM Plex Sans" pitchFamily="34" charset="-122"/>
                <a:cs typeface="IBM Plex Sans" pitchFamily="34" charset="-120"/>
              </a:rPr>
              <a:t>RESEARCH METHODS · LECTURE</a:t>
            </a:r>
            <a:endParaRPr lang="en-US" sz="1400" dirty="0">
              <a:latin typeface="+mj-lt"/>
            </a:endParaRPr>
          </a:p>
        </p:txBody>
      </p:sp>
      <p:sp>
        <p:nvSpPr>
          <p:cNvPr id="4" name="Text 2"/>
          <p:cNvSpPr>
            <a:spLocks noGrp="1"/>
          </p:cNvSpPr>
          <p:nvPr>
            <p:ph type="title"/>
          </p:nvPr>
        </p:nvSpPr>
        <p:spPr>
          <a:xfrm>
            <a:off x="812800" y="253876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6F4EE"/>
                </a:solidFill>
                <a:latin typeface="Source Serif 4" pitchFamily="18" charset="0"/>
                <a:ea typeface="Source Serif 4" pitchFamily="18" charset="-122"/>
                <a:cs typeface="Source Serif 4" pitchFamily="18" charset="-120"/>
              </a:rPr>
              <a:t>Survey Research</a:t>
            </a:r>
            <a:endParaRPr lang="en-US" sz="6000" dirty="0"/>
          </a:p>
        </p:txBody>
      </p:sp>
      <p:sp>
        <p:nvSpPr>
          <p:cNvPr id="5" name="Text 3"/>
          <p:cNvSpPr/>
          <p:nvPr/>
        </p:nvSpPr>
        <p:spPr>
          <a:xfrm>
            <a:off x="812800" y="3592860"/>
            <a:ext cx="8502650" cy="75178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9D3DD"/>
                </a:solidFill>
                <a:latin typeface="IBM Plex Sans" pitchFamily="34" charset="0"/>
                <a:ea typeface="IBM Plex Sans" pitchFamily="34" charset="-122"/>
                <a:cs typeface="IBM Plex Sans" pitchFamily="34" charset="-120"/>
              </a:rPr>
              <a:t>How to design and conduct a questionnaire study, step by step: from research question to final report</a:t>
            </a:r>
            <a:endParaRPr lang="en-US" sz="2200" dirty="0"/>
          </a:p>
        </p:txBody>
      </p:sp>
      <p:sp>
        <p:nvSpPr>
          <p:cNvPr id="6" name="Text 4"/>
          <p:cNvSpPr/>
          <p:nvPr/>
        </p:nvSpPr>
        <p:spPr>
          <a:xfrm>
            <a:off x="812800" y="5796310"/>
            <a:ext cx="10883392" cy="274290"/>
          </a:xfrm>
          <a:prstGeom prst="rect">
            <a:avLst/>
          </a:prstGeom>
          <a:noFill/>
          <a:ln/>
        </p:spPr>
        <p:txBody>
          <a:bodyPr wrap="square" lIns="0" tIns="0" rIns="0" bIns="0" rtlCol="0" anchor="t">
            <a:normAutofit/>
          </a:bodyPr>
          <a:lstStyle/>
          <a:p>
            <a:pPr marL="0" indent="0" algn="l">
              <a:lnSpc>
                <a:spcPts val="1960"/>
              </a:lnSpc>
              <a:buNone/>
            </a:pP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60F"/>
                </a:solidFill>
                <a:latin typeface="Times New Roman" panose="02020603050405020304" pitchFamily="18" charset="0"/>
                <a:ea typeface="IBM Plex Sans" pitchFamily="34" charset="-122"/>
                <a:cs typeface="Times New Roman" panose="02020603050405020304" pitchFamily="18" charset="0"/>
              </a:rPr>
              <a:t>INTRODUCTION</a:t>
            </a:r>
            <a:endParaRPr lang="en-US" sz="1200" dirty="0">
              <a:latin typeface="Times New Roman" panose="02020603050405020304" pitchFamily="18" charset="0"/>
              <a:cs typeface="Times New Roman" panose="02020603050405020304" pitchFamily="18" charset="0"/>
            </a:endParaRPr>
          </a:p>
        </p:txBody>
      </p:sp>
      <p:sp>
        <p:nvSpPr>
          <p:cNvPr id="3" name="Text 1"/>
          <p:cNvSpPr>
            <a:spLocks noGrp="1"/>
          </p:cNvSpPr>
          <p:nvPr>
            <p:ph type="title"/>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A3A"/>
                </a:solidFill>
                <a:latin typeface="Times New Roman" panose="02020603050405020304" pitchFamily="18" charset="0"/>
                <a:ea typeface="Source Serif 4" pitchFamily="18" charset="-122"/>
                <a:cs typeface="Times New Roman" panose="02020603050405020304" pitchFamily="18" charset="0"/>
              </a:rPr>
              <a:t>What is survey research?</a:t>
            </a:r>
            <a:endParaRPr lang="en-US" sz="3200" dirty="0">
              <a:latin typeface="Times New Roman" panose="02020603050405020304" pitchFamily="18" charset="0"/>
              <a:cs typeface="Times New Roman" panose="02020603050405020304" pitchFamily="18" charset="0"/>
            </a:endParaRPr>
          </a:p>
        </p:txBody>
      </p:sp>
      <p:sp>
        <p:nvSpPr>
          <p:cNvPr id="4" name="Text 2"/>
          <p:cNvSpPr/>
          <p:nvPr/>
        </p:nvSpPr>
        <p:spPr>
          <a:xfrm>
            <a:off x="812800" y="1879550"/>
            <a:ext cx="10883392" cy="66546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1B2A3A"/>
                </a:solidFill>
                <a:latin typeface="Times New Roman" panose="02020603050405020304" pitchFamily="18" charset="0"/>
                <a:ea typeface="Source Serif 4" pitchFamily="18" charset="-122"/>
                <a:cs typeface="Times New Roman" panose="02020603050405020304" pitchFamily="18" charset="0"/>
              </a:rPr>
              <a:t>A method of collecting </a:t>
            </a:r>
            <a:r>
              <a:rPr lang="en-US" sz="1800" b="1" dirty="0">
                <a:solidFill>
                  <a:srgbClr val="1B2A3A"/>
                </a:solidFill>
                <a:latin typeface="Times New Roman" panose="02020603050405020304" pitchFamily="18" charset="0"/>
                <a:ea typeface="Source Serif 4" pitchFamily="18" charset="-122"/>
                <a:cs typeface="Times New Roman" panose="02020603050405020304" pitchFamily="18" charset="0"/>
              </a:rPr>
              <a:t>standardised information</a:t>
            </a:r>
            <a:r>
              <a:rPr lang="en-US" sz="1800" dirty="0">
                <a:solidFill>
                  <a:srgbClr val="1B2A3A"/>
                </a:solidFill>
                <a:latin typeface="Times New Roman" panose="02020603050405020304" pitchFamily="18" charset="0"/>
                <a:ea typeface="Source Serif 4" pitchFamily="18" charset="-122"/>
                <a:cs typeface="Times New Roman" panose="02020603050405020304" pitchFamily="18" charset="0"/>
              </a:rPr>
              <a:t> from a </a:t>
            </a:r>
            <a:r>
              <a:rPr lang="en-US" sz="1800" b="1" dirty="0">
                <a:solidFill>
                  <a:srgbClr val="1B2A3A"/>
                </a:solidFill>
                <a:latin typeface="Times New Roman" panose="02020603050405020304" pitchFamily="18" charset="0"/>
                <a:ea typeface="Source Serif 4" pitchFamily="18" charset="-122"/>
                <a:cs typeface="Times New Roman" panose="02020603050405020304" pitchFamily="18" charset="0"/>
              </a:rPr>
              <a:t>sample</a:t>
            </a:r>
            <a:r>
              <a:rPr lang="en-US" sz="1800" dirty="0">
                <a:solidFill>
                  <a:srgbClr val="1B2A3A"/>
                </a:solidFill>
                <a:latin typeface="Times New Roman" panose="02020603050405020304" pitchFamily="18" charset="0"/>
                <a:ea typeface="Source Serif 4" pitchFamily="18" charset="-122"/>
                <a:cs typeface="Times New Roman" panose="02020603050405020304" pitchFamily="18" charset="0"/>
              </a:rPr>
              <a:t> of people, using the same set of questions, to describe or explain a larger </a:t>
            </a:r>
            <a:r>
              <a:rPr lang="en-US" sz="1800" b="1" dirty="0">
                <a:solidFill>
                  <a:srgbClr val="1B2A3A"/>
                </a:solidFill>
                <a:latin typeface="Times New Roman" panose="02020603050405020304" pitchFamily="18" charset="0"/>
                <a:ea typeface="Source Serif 4" pitchFamily="18" charset="-122"/>
                <a:cs typeface="Times New Roman" panose="02020603050405020304" pitchFamily="18" charset="0"/>
              </a:rPr>
              <a:t>population</a:t>
            </a:r>
            <a:r>
              <a:rPr lang="en-US" sz="1800" dirty="0">
                <a:solidFill>
                  <a:srgbClr val="1B2A3A"/>
                </a:solidFill>
                <a:latin typeface="Times New Roman" panose="02020603050405020304" pitchFamily="18" charset="0"/>
                <a:ea typeface="Source Serif 4" pitchFamily="18" charset="-122"/>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5" name="Shape 3"/>
          <p:cNvSpPr/>
          <p:nvPr/>
        </p:nvSpPr>
        <p:spPr>
          <a:xfrm>
            <a:off x="815975" y="2827586"/>
            <a:ext cx="3380284" cy="1835001"/>
          </a:xfrm>
          <a:prstGeom prst="roundRect">
            <a:avLst>
              <a:gd name="adj" fmla="val 5364"/>
            </a:avLst>
          </a:prstGeom>
          <a:solidFill>
            <a:srgbClr val="FFFDF8"/>
          </a:solidFill>
          <a:ln w="6350">
            <a:solidFill>
              <a:srgbClr val="DDD7C9"/>
            </a:solidFill>
            <a:prstDash val="solid"/>
          </a:ln>
        </p:spPr>
      </p:sp>
      <p:sp>
        <p:nvSpPr>
          <p:cNvPr id="6" name="Text 4"/>
          <p:cNvSpPr/>
          <p:nvPr/>
        </p:nvSpPr>
        <p:spPr>
          <a:xfrm>
            <a:off x="1047750" y="3059361"/>
            <a:ext cx="3004236"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2A3A"/>
                </a:solidFill>
                <a:latin typeface="Times New Roman" panose="02020603050405020304" pitchFamily="18" charset="0"/>
                <a:ea typeface="IBM Plex Sans" pitchFamily="34" charset="-122"/>
                <a:cs typeface="Times New Roman" panose="02020603050405020304" pitchFamily="18" charset="0"/>
              </a:rPr>
              <a:t>Best used for</a:t>
            </a:r>
            <a:endParaRPr lang="en-US" sz="1800" dirty="0">
              <a:latin typeface="Times New Roman" panose="02020603050405020304" pitchFamily="18" charset="0"/>
              <a:cs typeface="Times New Roman" panose="02020603050405020304" pitchFamily="18" charset="0"/>
            </a:endParaRPr>
          </a:p>
        </p:txBody>
      </p:sp>
      <p:sp>
        <p:nvSpPr>
          <p:cNvPr id="7" name="Text 5"/>
          <p:cNvSpPr/>
          <p:nvPr/>
        </p:nvSpPr>
        <p:spPr>
          <a:xfrm>
            <a:off x="1125982" y="3435251"/>
            <a:ext cx="2918384" cy="1020961"/>
          </a:xfrm>
          <a:prstGeom prst="rect">
            <a:avLst/>
          </a:prstGeom>
          <a:noFill/>
          <a:ln/>
        </p:spPr>
        <p:txBody>
          <a:bodyPr wrap="square" lIns="0" tIns="0" rIns="0" bIns="0" rtlCol="0" anchor="t">
            <a:normAutofit/>
          </a:bodyPr>
          <a:lstStyle/>
          <a:p>
            <a:pPr marL="175768" indent="-175768" algn="l">
              <a:lnSpc>
                <a:spcPts val="1960"/>
              </a:lnSpc>
              <a:buSzPct val="100000"/>
              <a:buChar char="•"/>
            </a:pPr>
            <a:r>
              <a:rPr lang="en-US" sz="1400" dirty="0">
                <a:solidFill>
                  <a:srgbClr val="2B3644"/>
                </a:solidFill>
                <a:latin typeface="Times New Roman" panose="02020603050405020304" pitchFamily="18" charset="0"/>
                <a:ea typeface="IBM Plex Sans" pitchFamily="34" charset="-122"/>
                <a:cs typeface="Times New Roman" panose="02020603050405020304" pitchFamily="18" charset="0"/>
              </a:rPr>
              <a:t>Attitudes and opinions</a:t>
            </a:r>
            <a:endParaRPr lang="en-US" sz="1400" dirty="0">
              <a:latin typeface="Times New Roman" panose="02020603050405020304" pitchFamily="18" charset="0"/>
              <a:cs typeface="Times New Roman" panose="02020603050405020304" pitchFamily="18" charset="0"/>
            </a:endParaRPr>
          </a:p>
          <a:p>
            <a:pPr marL="175768" indent="-175768" algn="l">
              <a:lnSpc>
                <a:spcPts val="1960"/>
              </a:lnSpc>
              <a:buSzPct val="100000"/>
              <a:buChar char="•"/>
            </a:pPr>
            <a:r>
              <a:rPr lang="en-US" sz="1400" dirty="0">
                <a:solidFill>
                  <a:srgbClr val="2B3644"/>
                </a:solidFill>
                <a:latin typeface="Times New Roman" panose="02020603050405020304" pitchFamily="18" charset="0"/>
                <a:ea typeface="IBM Plex Sans" pitchFamily="34" charset="-122"/>
                <a:cs typeface="Times New Roman" panose="02020603050405020304" pitchFamily="18" charset="0"/>
              </a:rPr>
              <a:t>Behaviours and habits</a:t>
            </a:r>
            <a:endParaRPr lang="en-US" sz="1400" dirty="0">
              <a:latin typeface="Times New Roman" panose="02020603050405020304" pitchFamily="18" charset="0"/>
              <a:cs typeface="Times New Roman" panose="02020603050405020304" pitchFamily="18" charset="0"/>
            </a:endParaRPr>
          </a:p>
          <a:p>
            <a:pPr marL="175768" indent="-175768" algn="l">
              <a:lnSpc>
                <a:spcPts val="1960"/>
              </a:lnSpc>
              <a:buSzPct val="100000"/>
              <a:buChar char="•"/>
            </a:pPr>
            <a:r>
              <a:rPr lang="en-US" sz="1400" dirty="0">
                <a:solidFill>
                  <a:srgbClr val="2B3644"/>
                </a:solidFill>
                <a:latin typeface="Times New Roman" panose="02020603050405020304" pitchFamily="18" charset="0"/>
                <a:ea typeface="IBM Plex Sans" pitchFamily="34" charset="-122"/>
                <a:cs typeface="Times New Roman" panose="02020603050405020304" pitchFamily="18" charset="0"/>
              </a:rPr>
              <a:t>Characteristics (age, education)</a:t>
            </a:r>
            <a:endParaRPr lang="en-US" sz="1400" dirty="0">
              <a:latin typeface="Times New Roman" panose="02020603050405020304" pitchFamily="18" charset="0"/>
              <a:cs typeface="Times New Roman" panose="02020603050405020304" pitchFamily="18" charset="0"/>
            </a:endParaRPr>
          </a:p>
          <a:p>
            <a:pPr marL="175768" indent="-175768" algn="l">
              <a:lnSpc>
                <a:spcPts val="1960"/>
              </a:lnSpc>
              <a:buSzPct val="100000"/>
              <a:buChar char="•"/>
            </a:pPr>
            <a:r>
              <a:rPr lang="en-US" sz="1400" dirty="0">
                <a:solidFill>
                  <a:srgbClr val="2B3644"/>
                </a:solidFill>
                <a:latin typeface="Times New Roman" panose="02020603050405020304" pitchFamily="18" charset="0"/>
                <a:ea typeface="IBM Plex Sans" pitchFamily="34" charset="-122"/>
                <a:cs typeface="Times New Roman" panose="02020603050405020304" pitchFamily="18" charset="0"/>
              </a:rPr>
              <a:t>Comparing groups</a:t>
            </a:r>
            <a:endParaRPr lang="en-US" sz="1400" dirty="0">
              <a:latin typeface="Times New Roman" panose="02020603050405020304" pitchFamily="18" charset="0"/>
              <a:cs typeface="Times New Roman" panose="02020603050405020304" pitchFamily="18" charset="0"/>
            </a:endParaRPr>
          </a:p>
        </p:txBody>
      </p:sp>
      <p:sp>
        <p:nvSpPr>
          <p:cNvPr id="8" name="Shape 6"/>
          <p:cNvSpPr/>
          <p:nvPr/>
        </p:nvSpPr>
        <p:spPr>
          <a:xfrm>
            <a:off x="4405809" y="2827586"/>
            <a:ext cx="3380333" cy="1835001"/>
          </a:xfrm>
          <a:prstGeom prst="roundRect">
            <a:avLst>
              <a:gd name="adj" fmla="val 5364"/>
            </a:avLst>
          </a:prstGeom>
          <a:solidFill>
            <a:srgbClr val="FFFDF8"/>
          </a:solidFill>
          <a:ln w="6350">
            <a:solidFill>
              <a:srgbClr val="DDD7C9"/>
            </a:solidFill>
            <a:prstDash val="solid"/>
          </a:ln>
        </p:spPr>
      </p:sp>
      <p:sp>
        <p:nvSpPr>
          <p:cNvPr id="9" name="Text 7"/>
          <p:cNvSpPr/>
          <p:nvPr/>
        </p:nvSpPr>
        <p:spPr>
          <a:xfrm>
            <a:off x="4637584" y="3059361"/>
            <a:ext cx="300428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2A3A"/>
                </a:solidFill>
                <a:latin typeface="Times New Roman" panose="02020603050405020304" pitchFamily="18" charset="0"/>
                <a:ea typeface="IBM Plex Sans" pitchFamily="34" charset="-122"/>
                <a:cs typeface="Times New Roman" panose="02020603050405020304" pitchFamily="18" charset="0"/>
              </a:rPr>
              <a:t>Strengths</a:t>
            </a:r>
            <a:endParaRPr lang="en-US" sz="1800" dirty="0">
              <a:latin typeface="Times New Roman" panose="02020603050405020304" pitchFamily="18" charset="0"/>
              <a:cs typeface="Times New Roman" panose="02020603050405020304" pitchFamily="18" charset="0"/>
            </a:endParaRPr>
          </a:p>
        </p:txBody>
      </p:sp>
      <p:sp>
        <p:nvSpPr>
          <p:cNvPr id="10" name="Text 8"/>
          <p:cNvSpPr/>
          <p:nvPr/>
        </p:nvSpPr>
        <p:spPr>
          <a:xfrm>
            <a:off x="4715816" y="3435251"/>
            <a:ext cx="2918435" cy="1020961"/>
          </a:xfrm>
          <a:prstGeom prst="rect">
            <a:avLst/>
          </a:prstGeom>
          <a:noFill/>
          <a:ln/>
        </p:spPr>
        <p:txBody>
          <a:bodyPr wrap="square" lIns="0" tIns="0" rIns="0" bIns="0" rtlCol="0" anchor="t">
            <a:normAutofit/>
          </a:bodyPr>
          <a:lstStyle/>
          <a:p>
            <a:pPr marL="175768" indent="-175768" algn="l">
              <a:lnSpc>
                <a:spcPts val="1960"/>
              </a:lnSpc>
              <a:buSzPct val="100000"/>
              <a:buChar char="•"/>
            </a:pPr>
            <a:r>
              <a:rPr lang="en-US" sz="1400" dirty="0">
                <a:solidFill>
                  <a:srgbClr val="2B3644"/>
                </a:solidFill>
                <a:latin typeface="Times New Roman" panose="02020603050405020304" pitchFamily="18" charset="0"/>
                <a:ea typeface="IBM Plex Sans" pitchFamily="34" charset="-122"/>
                <a:cs typeface="Times New Roman" panose="02020603050405020304" pitchFamily="18" charset="0"/>
              </a:rPr>
              <a:t>Reaches many people quickly</a:t>
            </a:r>
            <a:endParaRPr lang="en-US" sz="1400" dirty="0">
              <a:latin typeface="Times New Roman" panose="02020603050405020304" pitchFamily="18" charset="0"/>
              <a:cs typeface="Times New Roman" panose="02020603050405020304" pitchFamily="18" charset="0"/>
            </a:endParaRPr>
          </a:p>
          <a:p>
            <a:pPr marL="175768" indent="-175768" algn="l">
              <a:lnSpc>
                <a:spcPts val="1960"/>
              </a:lnSpc>
              <a:buSzPct val="100000"/>
              <a:buChar char="•"/>
            </a:pPr>
            <a:r>
              <a:rPr lang="en-US" sz="1400" dirty="0">
                <a:solidFill>
                  <a:srgbClr val="2B3644"/>
                </a:solidFill>
                <a:latin typeface="Times New Roman" panose="02020603050405020304" pitchFamily="18" charset="0"/>
                <a:ea typeface="IBM Plex Sans" pitchFamily="34" charset="-122"/>
                <a:cs typeface="Times New Roman" panose="02020603050405020304" pitchFamily="18" charset="0"/>
              </a:rPr>
              <a:t>Low cost per respondent</a:t>
            </a:r>
            <a:endParaRPr lang="en-US" sz="1400" dirty="0">
              <a:latin typeface="Times New Roman" panose="02020603050405020304" pitchFamily="18" charset="0"/>
              <a:cs typeface="Times New Roman" panose="02020603050405020304" pitchFamily="18" charset="0"/>
            </a:endParaRPr>
          </a:p>
          <a:p>
            <a:pPr marL="175768" indent="-175768" algn="l">
              <a:lnSpc>
                <a:spcPts val="1960"/>
              </a:lnSpc>
              <a:buSzPct val="100000"/>
              <a:buChar char="•"/>
            </a:pPr>
            <a:r>
              <a:rPr lang="en-US" sz="1400" dirty="0">
                <a:solidFill>
                  <a:srgbClr val="2B3644"/>
                </a:solidFill>
                <a:latin typeface="Times New Roman" panose="02020603050405020304" pitchFamily="18" charset="0"/>
                <a:ea typeface="IBM Plex Sans" pitchFamily="34" charset="-122"/>
                <a:cs typeface="Times New Roman" panose="02020603050405020304" pitchFamily="18" charset="0"/>
              </a:rPr>
              <a:t>Comparable, standard answers</a:t>
            </a:r>
            <a:endParaRPr lang="en-US" sz="1400" dirty="0">
              <a:latin typeface="Times New Roman" panose="02020603050405020304" pitchFamily="18" charset="0"/>
              <a:cs typeface="Times New Roman" panose="02020603050405020304" pitchFamily="18" charset="0"/>
            </a:endParaRPr>
          </a:p>
          <a:p>
            <a:pPr marL="175768" indent="-175768" algn="l">
              <a:lnSpc>
                <a:spcPts val="1960"/>
              </a:lnSpc>
              <a:buSzPct val="100000"/>
              <a:buChar char="•"/>
            </a:pPr>
            <a:r>
              <a:rPr lang="en-US" sz="1400" dirty="0">
                <a:solidFill>
                  <a:srgbClr val="2B3644"/>
                </a:solidFill>
                <a:latin typeface="Times New Roman" panose="02020603050405020304" pitchFamily="18" charset="0"/>
                <a:ea typeface="IBM Plex Sans" pitchFamily="34" charset="-122"/>
                <a:cs typeface="Times New Roman" panose="02020603050405020304" pitchFamily="18" charset="0"/>
              </a:rPr>
              <a:t>Easy to quantify and analyse</a:t>
            </a:r>
            <a:endParaRPr lang="en-US" sz="1400" dirty="0">
              <a:latin typeface="Times New Roman" panose="02020603050405020304" pitchFamily="18" charset="0"/>
              <a:cs typeface="Times New Roman" panose="02020603050405020304" pitchFamily="18" charset="0"/>
            </a:endParaRPr>
          </a:p>
        </p:txBody>
      </p:sp>
      <p:sp>
        <p:nvSpPr>
          <p:cNvPr id="11" name="Shape 9"/>
          <p:cNvSpPr/>
          <p:nvPr/>
        </p:nvSpPr>
        <p:spPr>
          <a:xfrm>
            <a:off x="7995692" y="2827586"/>
            <a:ext cx="3380333" cy="1835001"/>
          </a:xfrm>
          <a:prstGeom prst="roundRect">
            <a:avLst>
              <a:gd name="adj" fmla="val 5364"/>
            </a:avLst>
          </a:prstGeom>
          <a:solidFill>
            <a:srgbClr val="FFFDF8"/>
          </a:solidFill>
          <a:ln w="6350">
            <a:solidFill>
              <a:srgbClr val="DDD7C9"/>
            </a:solidFill>
            <a:prstDash val="solid"/>
          </a:ln>
        </p:spPr>
      </p:sp>
      <p:sp>
        <p:nvSpPr>
          <p:cNvPr id="12" name="Text 10"/>
          <p:cNvSpPr/>
          <p:nvPr/>
        </p:nvSpPr>
        <p:spPr>
          <a:xfrm>
            <a:off x="8227467" y="3059361"/>
            <a:ext cx="300428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2A3A"/>
                </a:solidFill>
                <a:latin typeface="Times New Roman" panose="02020603050405020304" pitchFamily="18" charset="0"/>
                <a:ea typeface="IBM Plex Sans" pitchFamily="34" charset="-122"/>
                <a:cs typeface="Times New Roman" panose="02020603050405020304" pitchFamily="18" charset="0"/>
              </a:rPr>
              <a:t>Limitations</a:t>
            </a:r>
            <a:endParaRPr lang="en-US" sz="1800" dirty="0">
              <a:latin typeface="Times New Roman" panose="02020603050405020304" pitchFamily="18" charset="0"/>
              <a:cs typeface="Times New Roman" panose="02020603050405020304" pitchFamily="18" charset="0"/>
            </a:endParaRPr>
          </a:p>
        </p:txBody>
      </p:sp>
      <p:sp>
        <p:nvSpPr>
          <p:cNvPr id="13" name="Text 11"/>
          <p:cNvSpPr/>
          <p:nvPr/>
        </p:nvSpPr>
        <p:spPr>
          <a:xfrm>
            <a:off x="8305699" y="3435251"/>
            <a:ext cx="2918435" cy="1020961"/>
          </a:xfrm>
          <a:prstGeom prst="rect">
            <a:avLst/>
          </a:prstGeom>
          <a:noFill/>
          <a:ln/>
        </p:spPr>
        <p:txBody>
          <a:bodyPr wrap="square" lIns="0" tIns="0" rIns="0" bIns="0" rtlCol="0" anchor="t">
            <a:normAutofit/>
          </a:bodyPr>
          <a:lstStyle/>
          <a:p>
            <a:pPr marL="175768" indent="-175768" algn="l">
              <a:lnSpc>
                <a:spcPts val="1960"/>
              </a:lnSpc>
              <a:buSzPct val="100000"/>
              <a:buChar char="•"/>
            </a:pPr>
            <a:r>
              <a:rPr lang="en-US" sz="1400" dirty="0">
                <a:solidFill>
                  <a:srgbClr val="2B3644"/>
                </a:solidFill>
                <a:latin typeface="Times New Roman" panose="02020603050405020304" pitchFamily="18" charset="0"/>
                <a:ea typeface="IBM Plex Sans" pitchFamily="34" charset="-122"/>
                <a:cs typeface="Times New Roman" panose="02020603050405020304" pitchFamily="18" charset="0"/>
              </a:rPr>
              <a:t>Relies on self-report</a:t>
            </a:r>
            <a:endParaRPr lang="en-US" sz="1400" dirty="0">
              <a:latin typeface="Times New Roman" panose="02020603050405020304" pitchFamily="18" charset="0"/>
              <a:cs typeface="Times New Roman" panose="02020603050405020304" pitchFamily="18" charset="0"/>
            </a:endParaRPr>
          </a:p>
          <a:p>
            <a:pPr marL="175768" indent="-175768" algn="l">
              <a:lnSpc>
                <a:spcPts val="1960"/>
              </a:lnSpc>
              <a:buSzPct val="100000"/>
              <a:buChar char="•"/>
            </a:pPr>
            <a:r>
              <a:rPr lang="en-US" sz="1400" dirty="0">
                <a:solidFill>
                  <a:srgbClr val="2B3644"/>
                </a:solidFill>
                <a:latin typeface="Times New Roman" panose="02020603050405020304" pitchFamily="18" charset="0"/>
                <a:ea typeface="IBM Plex Sans" pitchFamily="34" charset="-122"/>
                <a:cs typeface="Times New Roman" panose="02020603050405020304" pitchFamily="18" charset="0"/>
              </a:rPr>
              <a:t>Little depth on the "why"</a:t>
            </a:r>
            <a:endParaRPr lang="en-US" sz="1400" dirty="0">
              <a:latin typeface="Times New Roman" panose="02020603050405020304" pitchFamily="18" charset="0"/>
              <a:cs typeface="Times New Roman" panose="02020603050405020304" pitchFamily="18" charset="0"/>
            </a:endParaRPr>
          </a:p>
          <a:p>
            <a:pPr marL="175768" indent="-175768" algn="l">
              <a:lnSpc>
                <a:spcPts val="1960"/>
              </a:lnSpc>
              <a:buSzPct val="100000"/>
              <a:buChar char="•"/>
            </a:pPr>
            <a:r>
              <a:rPr lang="en-US" sz="1400" dirty="0">
                <a:solidFill>
                  <a:srgbClr val="2B3644"/>
                </a:solidFill>
                <a:latin typeface="Times New Roman" panose="02020603050405020304" pitchFamily="18" charset="0"/>
                <a:ea typeface="IBM Plex Sans" pitchFamily="34" charset="-122"/>
                <a:cs typeface="Times New Roman" panose="02020603050405020304" pitchFamily="18" charset="0"/>
              </a:rPr>
              <a:t>Low response rates</a:t>
            </a:r>
            <a:endParaRPr lang="en-US" sz="1400" dirty="0">
              <a:latin typeface="Times New Roman" panose="02020603050405020304" pitchFamily="18" charset="0"/>
              <a:cs typeface="Times New Roman" panose="02020603050405020304" pitchFamily="18" charset="0"/>
            </a:endParaRPr>
          </a:p>
          <a:p>
            <a:pPr marL="175768" indent="-175768" algn="l">
              <a:lnSpc>
                <a:spcPts val="1960"/>
              </a:lnSpc>
              <a:buSzPct val="100000"/>
              <a:buChar char="•"/>
            </a:pPr>
            <a:r>
              <a:rPr lang="en-US" sz="1400" dirty="0">
                <a:solidFill>
                  <a:srgbClr val="2B3644"/>
                </a:solidFill>
                <a:latin typeface="Times New Roman" panose="02020603050405020304" pitchFamily="18" charset="0"/>
                <a:ea typeface="IBM Plex Sans" pitchFamily="34" charset="-122"/>
                <a:cs typeface="Times New Roman" panose="02020603050405020304" pitchFamily="18" charset="0"/>
              </a:rPr>
              <a:t>Poor questions = poor data</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8D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60F"/>
                </a:solidFill>
                <a:latin typeface="+mj-lt"/>
                <a:ea typeface="IBM Plex Sans" pitchFamily="34" charset="-122"/>
                <a:cs typeface="IBM Plex Sans" pitchFamily="34" charset="-120"/>
              </a:rPr>
              <a:t>OVERVIEW</a:t>
            </a:r>
            <a:endParaRPr lang="en-US" sz="1200" dirty="0">
              <a:latin typeface="+mj-lt"/>
            </a:endParaRPr>
          </a:p>
        </p:txBody>
      </p:sp>
      <p:sp>
        <p:nvSpPr>
          <p:cNvPr id="3" name="Text 1"/>
          <p:cNvSpPr>
            <a:spLocks noGrp="1"/>
          </p:cNvSpPr>
          <p:nvPr>
            <p:ph type="title"/>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A3A"/>
                </a:solidFill>
                <a:latin typeface="+mj-lt"/>
                <a:ea typeface="Source Serif 4" pitchFamily="18" charset="-122"/>
                <a:cs typeface="Source Serif 4" pitchFamily="18" charset="-120"/>
              </a:rPr>
              <a:t>The survey process in eight steps</a:t>
            </a:r>
            <a:endParaRPr lang="en-US" sz="3200" dirty="0">
              <a:latin typeface="+mj-lt"/>
            </a:endParaRPr>
          </a:p>
        </p:txBody>
      </p:sp>
      <p:sp>
        <p:nvSpPr>
          <p:cNvPr id="4" name="Shape 2"/>
          <p:cNvSpPr/>
          <p:nvPr/>
        </p:nvSpPr>
        <p:spPr>
          <a:xfrm>
            <a:off x="815975" y="1882725"/>
            <a:ext cx="2520950" cy="1504851"/>
          </a:xfrm>
          <a:prstGeom prst="roundRect">
            <a:avLst>
              <a:gd name="adj" fmla="val 6541"/>
            </a:avLst>
          </a:prstGeom>
          <a:solidFill>
            <a:srgbClr val="FFFDF8"/>
          </a:solidFill>
          <a:ln w="6350">
            <a:solidFill>
              <a:srgbClr val="D3CCBB"/>
            </a:solidFill>
            <a:prstDash val="solid"/>
          </a:ln>
        </p:spPr>
      </p:sp>
      <p:sp>
        <p:nvSpPr>
          <p:cNvPr id="5" name="Text 3"/>
          <p:cNvSpPr/>
          <p:nvPr/>
        </p:nvSpPr>
        <p:spPr>
          <a:xfrm>
            <a:off x="1022350" y="2089100"/>
            <a:ext cx="2171446" cy="33273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A8460F"/>
                </a:solidFill>
                <a:latin typeface="+mj-lt"/>
                <a:ea typeface="Source Serif 4" pitchFamily="18" charset="-122"/>
                <a:cs typeface="Source Serif 4" pitchFamily="18" charset="-120"/>
              </a:rPr>
              <a:t>01</a:t>
            </a:r>
            <a:endParaRPr lang="en-US" sz="2200" dirty="0">
              <a:latin typeface="+mj-lt"/>
            </a:endParaRPr>
          </a:p>
        </p:txBody>
      </p:sp>
      <p:sp>
        <p:nvSpPr>
          <p:cNvPr id="6" name="Text 4"/>
          <p:cNvSpPr/>
          <p:nvPr/>
        </p:nvSpPr>
        <p:spPr>
          <a:xfrm>
            <a:off x="1022350" y="2447230"/>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A3A"/>
                </a:solidFill>
                <a:latin typeface="+mj-lt"/>
                <a:ea typeface="IBM Plex Sans" pitchFamily="34" charset="-122"/>
                <a:cs typeface="IBM Plex Sans" pitchFamily="34" charset="-120"/>
              </a:rPr>
              <a:t>Objectives</a:t>
            </a:r>
            <a:endParaRPr lang="en-US" sz="1600" dirty="0">
              <a:latin typeface="+mj-lt"/>
            </a:endParaRPr>
          </a:p>
        </p:txBody>
      </p:sp>
      <p:sp>
        <p:nvSpPr>
          <p:cNvPr id="7" name="Text 5"/>
          <p:cNvSpPr/>
          <p:nvPr/>
        </p:nvSpPr>
        <p:spPr>
          <a:xfrm>
            <a:off x="1022350" y="2741861"/>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7"/>
                </a:solidFill>
                <a:latin typeface="+mj-lt"/>
                <a:ea typeface="IBM Plex Sans" pitchFamily="34" charset="-122"/>
                <a:cs typeface="IBM Plex Sans" pitchFamily="34" charset="-120"/>
              </a:rPr>
              <a:t>What exactly do you want to find out?</a:t>
            </a:r>
            <a:endParaRPr lang="en-US" sz="1200" dirty="0">
              <a:latin typeface="+mj-lt"/>
            </a:endParaRPr>
          </a:p>
        </p:txBody>
      </p:sp>
      <p:sp>
        <p:nvSpPr>
          <p:cNvPr id="8" name="Shape 6"/>
          <p:cNvSpPr/>
          <p:nvPr/>
        </p:nvSpPr>
        <p:spPr>
          <a:xfrm>
            <a:off x="3575050" y="1888380"/>
            <a:ext cx="2520950" cy="1504851"/>
          </a:xfrm>
          <a:prstGeom prst="roundRect">
            <a:avLst>
              <a:gd name="adj" fmla="val 6541"/>
            </a:avLst>
          </a:prstGeom>
          <a:solidFill>
            <a:srgbClr val="FFFDF8"/>
          </a:solidFill>
          <a:ln w="6350">
            <a:solidFill>
              <a:srgbClr val="D3CCBB"/>
            </a:solidFill>
            <a:prstDash val="solid"/>
          </a:ln>
        </p:spPr>
      </p:sp>
      <p:sp>
        <p:nvSpPr>
          <p:cNvPr id="9" name="Text 7"/>
          <p:cNvSpPr/>
          <p:nvPr/>
        </p:nvSpPr>
        <p:spPr>
          <a:xfrm>
            <a:off x="3702050" y="2089100"/>
            <a:ext cx="2171446" cy="33273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A8460F"/>
                </a:solidFill>
                <a:latin typeface="+mj-lt"/>
                <a:ea typeface="Source Serif 4" pitchFamily="18" charset="-122"/>
                <a:cs typeface="Source Serif 4" pitchFamily="18" charset="-120"/>
              </a:rPr>
              <a:t>02</a:t>
            </a:r>
            <a:endParaRPr lang="en-US" sz="2200" dirty="0">
              <a:latin typeface="+mj-lt"/>
            </a:endParaRPr>
          </a:p>
        </p:txBody>
      </p:sp>
      <p:sp>
        <p:nvSpPr>
          <p:cNvPr id="10" name="Text 8"/>
          <p:cNvSpPr/>
          <p:nvPr/>
        </p:nvSpPr>
        <p:spPr>
          <a:xfrm>
            <a:off x="3702050" y="2447230"/>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A3A"/>
                </a:solidFill>
                <a:latin typeface="+mj-lt"/>
                <a:ea typeface="IBM Plex Sans" pitchFamily="34" charset="-122"/>
                <a:cs typeface="IBM Plex Sans" pitchFamily="34" charset="-120"/>
              </a:rPr>
              <a:t>Sample</a:t>
            </a:r>
            <a:endParaRPr lang="en-US" sz="1600" dirty="0">
              <a:latin typeface="+mj-lt"/>
            </a:endParaRPr>
          </a:p>
        </p:txBody>
      </p:sp>
      <p:sp>
        <p:nvSpPr>
          <p:cNvPr id="11" name="Text 9"/>
          <p:cNvSpPr/>
          <p:nvPr/>
        </p:nvSpPr>
        <p:spPr>
          <a:xfrm>
            <a:off x="3702050" y="2741861"/>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7"/>
                </a:solidFill>
                <a:latin typeface="+mj-lt"/>
                <a:ea typeface="IBM Plex Sans" pitchFamily="34" charset="-122"/>
                <a:cs typeface="IBM Plex Sans" pitchFamily="34" charset="-120"/>
              </a:rPr>
              <a:t>Who, how many, and how selected?</a:t>
            </a:r>
            <a:endParaRPr lang="en-US" sz="1200" dirty="0">
              <a:latin typeface="+mj-lt"/>
            </a:endParaRPr>
          </a:p>
        </p:txBody>
      </p:sp>
      <p:sp>
        <p:nvSpPr>
          <p:cNvPr id="12" name="Shape 10"/>
          <p:cNvSpPr/>
          <p:nvPr/>
        </p:nvSpPr>
        <p:spPr>
          <a:xfrm>
            <a:off x="6175375" y="1882725"/>
            <a:ext cx="2520950" cy="1504851"/>
          </a:xfrm>
          <a:prstGeom prst="roundRect">
            <a:avLst>
              <a:gd name="adj" fmla="val 6541"/>
            </a:avLst>
          </a:prstGeom>
          <a:solidFill>
            <a:srgbClr val="FFFDF8"/>
          </a:solidFill>
          <a:ln w="6350">
            <a:solidFill>
              <a:srgbClr val="D3CCBB"/>
            </a:solidFill>
            <a:prstDash val="solid"/>
          </a:ln>
        </p:spPr>
      </p:sp>
      <p:sp>
        <p:nvSpPr>
          <p:cNvPr id="13" name="Text 11"/>
          <p:cNvSpPr/>
          <p:nvPr/>
        </p:nvSpPr>
        <p:spPr>
          <a:xfrm>
            <a:off x="6381750" y="2089100"/>
            <a:ext cx="2171446" cy="33273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A8460F"/>
                </a:solidFill>
                <a:latin typeface="+mj-lt"/>
                <a:ea typeface="Source Serif 4" pitchFamily="18" charset="-122"/>
                <a:cs typeface="Source Serif 4" pitchFamily="18" charset="-120"/>
              </a:rPr>
              <a:t>03</a:t>
            </a:r>
            <a:endParaRPr lang="en-US" sz="2200" dirty="0">
              <a:latin typeface="+mj-lt"/>
            </a:endParaRPr>
          </a:p>
        </p:txBody>
      </p:sp>
      <p:sp>
        <p:nvSpPr>
          <p:cNvPr id="14" name="Text 12"/>
          <p:cNvSpPr/>
          <p:nvPr/>
        </p:nvSpPr>
        <p:spPr>
          <a:xfrm>
            <a:off x="6381750" y="2447230"/>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A3A"/>
                </a:solidFill>
                <a:latin typeface="+mj-lt"/>
                <a:ea typeface="IBM Plex Sans" pitchFamily="34" charset="-122"/>
                <a:cs typeface="IBM Plex Sans" pitchFamily="34" charset="-120"/>
              </a:rPr>
              <a:t>Questionnaire</a:t>
            </a:r>
            <a:endParaRPr lang="en-US" sz="1600" dirty="0">
              <a:latin typeface="+mj-lt"/>
            </a:endParaRPr>
          </a:p>
        </p:txBody>
      </p:sp>
      <p:sp>
        <p:nvSpPr>
          <p:cNvPr id="15" name="Text 13"/>
          <p:cNvSpPr/>
          <p:nvPr/>
        </p:nvSpPr>
        <p:spPr>
          <a:xfrm>
            <a:off x="6381750" y="2741861"/>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7"/>
                </a:solidFill>
                <a:latin typeface="+mj-lt"/>
                <a:ea typeface="IBM Plex Sans" pitchFamily="34" charset="-122"/>
                <a:cs typeface="IBM Plex Sans" pitchFamily="34" charset="-120"/>
              </a:rPr>
              <a:t>Turn objectives into clear questions</a:t>
            </a:r>
            <a:endParaRPr lang="en-US" sz="1200" dirty="0">
              <a:latin typeface="+mj-lt"/>
            </a:endParaRPr>
          </a:p>
        </p:txBody>
      </p:sp>
      <p:sp>
        <p:nvSpPr>
          <p:cNvPr id="16" name="Shape 14"/>
          <p:cNvSpPr/>
          <p:nvPr/>
        </p:nvSpPr>
        <p:spPr>
          <a:xfrm>
            <a:off x="8858250" y="1885900"/>
            <a:ext cx="2514600" cy="1498501"/>
          </a:xfrm>
          <a:prstGeom prst="roundRect">
            <a:avLst>
              <a:gd name="adj" fmla="val 6356"/>
            </a:avLst>
          </a:prstGeom>
          <a:solidFill>
            <a:srgbClr val="FFFDF8"/>
          </a:solidFill>
          <a:ln w="12700">
            <a:solidFill>
              <a:srgbClr val="A8460F"/>
            </a:solidFill>
            <a:prstDash val="solid"/>
          </a:ln>
        </p:spPr>
      </p:sp>
      <p:sp>
        <p:nvSpPr>
          <p:cNvPr id="17" name="Text 15"/>
          <p:cNvSpPr/>
          <p:nvPr/>
        </p:nvSpPr>
        <p:spPr>
          <a:xfrm>
            <a:off x="9067800" y="2095450"/>
            <a:ext cx="2158365" cy="33273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A8460F"/>
                </a:solidFill>
                <a:latin typeface="+mj-lt"/>
                <a:ea typeface="Source Serif 4" pitchFamily="18" charset="-122"/>
                <a:cs typeface="Source Serif 4" pitchFamily="18" charset="-120"/>
              </a:rPr>
              <a:t>04</a:t>
            </a:r>
            <a:endParaRPr lang="en-US" sz="2200" dirty="0">
              <a:latin typeface="+mj-lt"/>
            </a:endParaRPr>
          </a:p>
        </p:txBody>
      </p:sp>
      <p:sp>
        <p:nvSpPr>
          <p:cNvPr id="18" name="Text 16"/>
          <p:cNvSpPr/>
          <p:nvPr/>
        </p:nvSpPr>
        <p:spPr>
          <a:xfrm>
            <a:off x="9067800" y="2453580"/>
            <a:ext cx="2158365"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A3A"/>
                </a:solidFill>
                <a:latin typeface="+mj-lt"/>
                <a:ea typeface="IBM Plex Sans" pitchFamily="34" charset="-122"/>
                <a:cs typeface="IBM Plex Sans" pitchFamily="34" charset="-120"/>
              </a:rPr>
              <a:t>Ethics approval</a:t>
            </a:r>
            <a:endParaRPr lang="en-US" sz="1600" dirty="0">
              <a:latin typeface="+mj-lt"/>
            </a:endParaRPr>
          </a:p>
        </p:txBody>
      </p:sp>
      <p:sp>
        <p:nvSpPr>
          <p:cNvPr id="19" name="Text 17"/>
          <p:cNvSpPr/>
          <p:nvPr/>
        </p:nvSpPr>
        <p:spPr>
          <a:xfrm>
            <a:off x="9067800" y="2748211"/>
            <a:ext cx="215836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7"/>
                </a:solidFill>
                <a:latin typeface="+mj-lt"/>
                <a:ea typeface="IBM Plex Sans" pitchFamily="34" charset="-122"/>
                <a:cs typeface="IBM Plex Sans" pitchFamily="34" charset="-120"/>
              </a:rPr>
              <a:t>Committee review before any contact</a:t>
            </a:r>
            <a:endParaRPr lang="en-US" sz="1200" dirty="0">
              <a:latin typeface="+mj-lt"/>
            </a:endParaRPr>
          </a:p>
        </p:txBody>
      </p:sp>
      <p:sp>
        <p:nvSpPr>
          <p:cNvPr id="20" name="Shape 18"/>
          <p:cNvSpPr/>
          <p:nvPr/>
        </p:nvSpPr>
        <p:spPr>
          <a:xfrm>
            <a:off x="815975" y="3546326"/>
            <a:ext cx="2520950" cy="1492151"/>
          </a:xfrm>
          <a:prstGeom prst="roundRect">
            <a:avLst>
              <a:gd name="adj" fmla="val 6596"/>
            </a:avLst>
          </a:prstGeom>
          <a:solidFill>
            <a:srgbClr val="FFFDF8"/>
          </a:solidFill>
          <a:ln w="6350">
            <a:solidFill>
              <a:srgbClr val="D3CCBB"/>
            </a:solidFill>
            <a:prstDash val="solid"/>
          </a:ln>
        </p:spPr>
      </p:sp>
      <p:sp>
        <p:nvSpPr>
          <p:cNvPr id="21" name="Text 19"/>
          <p:cNvSpPr/>
          <p:nvPr/>
        </p:nvSpPr>
        <p:spPr>
          <a:xfrm>
            <a:off x="1022350" y="3752701"/>
            <a:ext cx="2171446" cy="33273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A8460F"/>
                </a:solidFill>
                <a:latin typeface="+mj-lt"/>
                <a:ea typeface="Source Serif 4" pitchFamily="18" charset="-122"/>
                <a:cs typeface="Source Serif 4" pitchFamily="18" charset="-120"/>
              </a:rPr>
              <a:t>05</a:t>
            </a:r>
            <a:endParaRPr lang="en-US" sz="2200" dirty="0">
              <a:latin typeface="+mj-lt"/>
            </a:endParaRPr>
          </a:p>
        </p:txBody>
      </p:sp>
      <p:sp>
        <p:nvSpPr>
          <p:cNvPr id="22" name="Text 20"/>
          <p:cNvSpPr/>
          <p:nvPr/>
        </p:nvSpPr>
        <p:spPr>
          <a:xfrm>
            <a:off x="1022350" y="4110831"/>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A3A"/>
                </a:solidFill>
                <a:latin typeface="+mj-lt"/>
                <a:ea typeface="IBM Plex Sans" pitchFamily="34" charset="-122"/>
                <a:cs typeface="IBM Plex Sans" pitchFamily="34" charset="-120"/>
              </a:rPr>
              <a:t>Pilot test</a:t>
            </a:r>
            <a:endParaRPr lang="en-US" sz="1600" dirty="0">
              <a:latin typeface="+mj-lt"/>
            </a:endParaRPr>
          </a:p>
        </p:txBody>
      </p:sp>
      <p:sp>
        <p:nvSpPr>
          <p:cNvPr id="23" name="Text 21"/>
          <p:cNvSpPr/>
          <p:nvPr/>
        </p:nvSpPr>
        <p:spPr>
          <a:xfrm>
            <a:off x="1022350" y="4405461"/>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7"/>
                </a:solidFill>
                <a:latin typeface="+mj-lt"/>
                <a:ea typeface="IBM Plex Sans" pitchFamily="34" charset="-122"/>
                <a:cs typeface="IBM Plex Sans" pitchFamily="34" charset="-120"/>
              </a:rPr>
              <a:t>Try it on a small group and revise</a:t>
            </a:r>
            <a:endParaRPr lang="en-US" sz="1200" dirty="0">
              <a:latin typeface="+mj-lt"/>
            </a:endParaRPr>
          </a:p>
        </p:txBody>
      </p:sp>
      <p:sp>
        <p:nvSpPr>
          <p:cNvPr id="24" name="Shape 22"/>
          <p:cNvSpPr/>
          <p:nvPr/>
        </p:nvSpPr>
        <p:spPr>
          <a:xfrm>
            <a:off x="3495675" y="3546326"/>
            <a:ext cx="2520950" cy="1492151"/>
          </a:xfrm>
          <a:prstGeom prst="roundRect">
            <a:avLst>
              <a:gd name="adj" fmla="val 6596"/>
            </a:avLst>
          </a:prstGeom>
          <a:solidFill>
            <a:srgbClr val="FFFDF8"/>
          </a:solidFill>
          <a:ln w="6350">
            <a:solidFill>
              <a:srgbClr val="D3CCBB"/>
            </a:solidFill>
            <a:prstDash val="solid"/>
          </a:ln>
        </p:spPr>
      </p:sp>
      <p:sp>
        <p:nvSpPr>
          <p:cNvPr id="25" name="Text 23"/>
          <p:cNvSpPr/>
          <p:nvPr/>
        </p:nvSpPr>
        <p:spPr>
          <a:xfrm>
            <a:off x="3702050" y="3752701"/>
            <a:ext cx="2171446" cy="33273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A8460F"/>
                </a:solidFill>
                <a:latin typeface="+mj-lt"/>
                <a:ea typeface="Source Serif 4" pitchFamily="18" charset="-122"/>
                <a:cs typeface="Source Serif 4" pitchFamily="18" charset="-120"/>
              </a:rPr>
              <a:t>06</a:t>
            </a:r>
            <a:endParaRPr lang="en-US" sz="2200" dirty="0">
              <a:latin typeface="+mj-lt"/>
            </a:endParaRPr>
          </a:p>
        </p:txBody>
      </p:sp>
      <p:sp>
        <p:nvSpPr>
          <p:cNvPr id="26" name="Text 24"/>
          <p:cNvSpPr/>
          <p:nvPr/>
        </p:nvSpPr>
        <p:spPr>
          <a:xfrm>
            <a:off x="3702050" y="4110831"/>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A3A"/>
                </a:solidFill>
                <a:latin typeface="+mj-lt"/>
                <a:ea typeface="IBM Plex Sans" pitchFamily="34" charset="-122"/>
                <a:cs typeface="IBM Plex Sans" pitchFamily="34" charset="-120"/>
              </a:rPr>
              <a:t>Data collection</a:t>
            </a:r>
            <a:endParaRPr lang="en-US" sz="1600" dirty="0">
              <a:latin typeface="+mj-lt"/>
            </a:endParaRPr>
          </a:p>
        </p:txBody>
      </p:sp>
      <p:sp>
        <p:nvSpPr>
          <p:cNvPr id="27" name="Text 25"/>
          <p:cNvSpPr/>
          <p:nvPr/>
        </p:nvSpPr>
        <p:spPr>
          <a:xfrm>
            <a:off x="3702050" y="4405461"/>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7"/>
                </a:solidFill>
                <a:latin typeface="+mj-lt"/>
                <a:ea typeface="IBM Plex Sans" pitchFamily="34" charset="-122"/>
                <a:cs typeface="IBM Plex Sans" pitchFamily="34" charset="-120"/>
              </a:rPr>
              <a:t>Distribute, remind, track responses</a:t>
            </a:r>
            <a:endParaRPr lang="en-US" sz="1200" dirty="0">
              <a:latin typeface="+mj-lt"/>
            </a:endParaRPr>
          </a:p>
        </p:txBody>
      </p:sp>
      <p:sp>
        <p:nvSpPr>
          <p:cNvPr id="28" name="Shape 26"/>
          <p:cNvSpPr/>
          <p:nvPr/>
        </p:nvSpPr>
        <p:spPr>
          <a:xfrm>
            <a:off x="6175375" y="3546326"/>
            <a:ext cx="2520950" cy="1492151"/>
          </a:xfrm>
          <a:prstGeom prst="roundRect">
            <a:avLst>
              <a:gd name="adj" fmla="val 6596"/>
            </a:avLst>
          </a:prstGeom>
          <a:solidFill>
            <a:srgbClr val="FFFDF8"/>
          </a:solidFill>
          <a:ln w="6350">
            <a:solidFill>
              <a:srgbClr val="D3CCBB"/>
            </a:solidFill>
            <a:prstDash val="solid"/>
          </a:ln>
        </p:spPr>
      </p:sp>
      <p:sp>
        <p:nvSpPr>
          <p:cNvPr id="29" name="Text 27"/>
          <p:cNvSpPr/>
          <p:nvPr/>
        </p:nvSpPr>
        <p:spPr>
          <a:xfrm>
            <a:off x="6381750" y="3752701"/>
            <a:ext cx="2171446" cy="33273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A8460F"/>
                </a:solidFill>
                <a:latin typeface="+mj-lt"/>
                <a:ea typeface="Source Serif 4" pitchFamily="18" charset="-122"/>
                <a:cs typeface="Source Serif 4" pitchFamily="18" charset="-120"/>
              </a:rPr>
              <a:t>07</a:t>
            </a:r>
            <a:endParaRPr lang="en-US" sz="2200" dirty="0">
              <a:latin typeface="+mj-lt"/>
            </a:endParaRPr>
          </a:p>
        </p:txBody>
      </p:sp>
      <p:sp>
        <p:nvSpPr>
          <p:cNvPr id="30" name="Text 28"/>
          <p:cNvSpPr/>
          <p:nvPr/>
        </p:nvSpPr>
        <p:spPr>
          <a:xfrm>
            <a:off x="6381750" y="4110831"/>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A3A"/>
                </a:solidFill>
                <a:latin typeface="+mj-lt"/>
                <a:ea typeface="IBM Plex Sans" pitchFamily="34" charset="-122"/>
                <a:cs typeface="IBM Plex Sans" pitchFamily="34" charset="-120"/>
              </a:rPr>
              <a:t>Analysis</a:t>
            </a:r>
            <a:endParaRPr lang="en-US" sz="1600" dirty="0">
              <a:latin typeface="+mj-lt"/>
            </a:endParaRPr>
          </a:p>
        </p:txBody>
      </p:sp>
      <p:sp>
        <p:nvSpPr>
          <p:cNvPr id="31" name="Text 29"/>
          <p:cNvSpPr/>
          <p:nvPr/>
        </p:nvSpPr>
        <p:spPr>
          <a:xfrm>
            <a:off x="6381750" y="4405461"/>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7"/>
                </a:solidFill>
                <a:latin typeface="+mj-lt"/>
                <a:ea typeface="IBM Plex Sans" pitchFamily="34" charset="-122"/>
                <a:cs typeface="IBM Plex Sans" pitchFamily="34" charset="-120"/>
              </a:rPr>
              <a:t>Clean the data and run statistics</a:t>
            </a:r>
            <a:endParaRPr lang="en-US" sz="1200" dirty="0">
              <a:latin typeface="+mj-lt"/>
            </a:endParaRPr>
          </a:p>
        </p:txBody>
      </p:sp>
      <p:sp>
        <p:nvSpPr>
          <p:cNvPr id="32" name="Shape 30"/>
          <p:cNvSpPr/>
          <p:nvPr/>
        </p:nvSpPr>
        <p:spPr>
          <a:xfrm>
            <a:off x="8855075" y="3546326"/>
            <a:ext cx="2520950" cy="1492151"/>
          </a:xfrm>
          <a:prstGeom prst="roundRect">
            <a:avLst>
              <a:gd name="adj" fmla="val 6596"/>
            </a:avLst>
          </a:prstGeom>
          <a:solidFill>
            <a:srgbClr val="FFFDF8"/>
          </a:solidFill>
          <a:ln w="6350">
            <a:solidFill>
              <a:srgbClr val="D3CCBB"/>
            </a:solidFill>
            <a:prstDash val="solid"/>
          </a:ln>
        </p:spPr>
      </p:sp>
      <p:sp>
        <p:nvSpPr>
          <p:cNvPr id="33" name="Text 31"/>
          <p:cNvSpPr/>
          <p:nvPr/>
        </p:nvSpPr>
        <p:spPr>
          <a:xfrm>
            <a:off x="9061450" y="3752701"/>
            <a:ext cx="2171446" cy="33273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A8460F"/>
                </a:solidFill>
                <a:latin typeface="+mj-lt"/>
                <a:ea typeface="Source Serif 4" pitchFamily="18" charset="-122"/>
                <a:cs typeface="Source Serif 4" pitchFamily="18" charset="-120"/>
              </a:rPr>
              <a:t>08</a:t>
            </a:r>
            <a:endParaRPr lang="en-US" sz="2200" dirty="0">
              <a:latin typeface="+mj-lt"/>
            </a:endParaRPr>
          </a:p>
        </p:txBody>
      </p:sp>
      <p:sp>
        <p:nvSpPr>
          <p:cNvPr id="34" name="Text 32"/>
          <p:cNvSpPr/>
          <p:nvPr/>
        </p:nvSpPr>
        <p:spPr>
          <a:xfrm>
            <a:off x="9061450" y="4110831"/>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A3A"/>
                </a:solidFill>
                <a:latin typeface="+mj-lt"/>
                <a:ea typeface="IBM Plex Sans" pitchFamily="34" charset="-122"/>
                <a:cs typeface="IBM Plex Sans" pitchFamily="34" charset="-120"/>
              </a:rPr>
              <a:t>Report</a:t>
            </a:r>
            <a:endParaRPr lang="en-US" sz="1600" dirty="0">
              <a:latin typeface="+mj-lt"/>
            </a:endParaRPr>
          </a:p>
        </p:txBody>
      </p:sp>
      <p:sp>
        <p:nvSpPr>
          <p:cNvPr id="35" name="Text 33"/>
          <p:cNvSpPr/>
          <p:nvPr/>
        </p:nvSpPr>
        <p:spPr>
          <a:xfrm>
            <a:off x="9061450" y="4405461"/>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7"/>
                </a:solidFill>
                <a:latin typeface="+mj-lt"/>
                <a:ea typeface="IBM Plex Sans" pitchFamily="34" charset="-122"/>
                <a:cs typeface="IBM Plex Sans" pitchFamily="34" charset="-120"/>
              </a:rPr>
              <a:t>Answer your research questions</a:t>
            </a:r>
            <a:endParaRPr lang="en-US" sz="1200" dirty="0">
              <a:latin typeface="+mj-lt"/>
            </a:endParaRPr>
          </a:p>
        </p:txBody>
      </p:sp>
      <p:sp>
        <p:nvSpPr>
          <p:cNvPr id="36" name="Text 34"/>
          <p:cNvSpPr/>
          <p:nvPr/>
        </p:nvSpPr>
        <p:spPr>
          <a:xfrm>
            <a:off x="812800" y="5346452"/>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2A3A"/>
                </a:solidFill>
                <a:latin typeface="+mj-lt"/>
                <a:ea typeface="IBM Plex Sans" pitchFamily="34" charset="-122"/>
                <a:cs typeface="IBM Plex Sans" pitchFamily="34" charset="-120"/>
              </a:rPr>
              <a:t>Plan → Sample → Design → Approve → Test → Collect → Analyse → Report</a:t>
            </a:r>
            <a:endParaRPr lang="en-US" sz="1400" dirty="0">
              <a:latin typeface="+mj-lt"/>
            </a:endParaRPr>
          </a:p>
        </p:txBody>
      </p:sp>
      <p:sp>
        <p:nvSpPr>
          <p:cNvPr id="37" name="Text 3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endParaRPr lang="en-US" sz="1200"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60F"/>
                </a:solidFill>
                <a:latin typeface="+mj-lt"/>
                <a:ea typeface="IBM Plex Sans" pitchFamily="34" charset="-122"/>
                <a:cs typeface="IBM Plex Sans" pitchFamily="34" charset="-120"/>
              </a:rPr>
              <a:t>STEP 1 · OBJECTIVES</a:t>
            </a:r>
            <a:endParaRPr lang="en-US" sz="1200" dirty="0">
              <a:latin typeface="+mj-lt"/>
            </a:endParaRPr>
          </a:p>
        </p:txBody>
      </p:sp>
      <p:sp>
        <p:nvSpPr>
          <p:cNvPr id="3" name="Text 1"/>
          <p:cNvSpPr>
            <a:spLocks noGrp="1"/>
          </p:cNvSpPr>
          <p:nvPr>
            <p:ph type="title"/>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A3A"/>
                </a:solidFill>
                <a:latin typeface="+mj-lt"/>
                <a:ea typeface="Source Serif 4" pitchFamily="18" charset="-122"/>
                <a:cs typeface="Source Serif 4" pitchFamily="18" charset="-120"/>
              </a:rPr>
              <a:t>Start with a clear research problem</a:t>
            </a:r>
            <a:endParaRPr lang="en-US" sz="3200" dirty="0">
              <a:latin typeface="+mj-lt"/>
            </a:endParaRPr>
          </a:p>
        </p:txBody>
      </p:sp>
      <p:sp>
        <p:nvSpPr>
          <p:cNvPr id="4" name="Shape 2"/>
          <p:cNvSpPr/>
          <p:nvPr/>
        </p:nvSpPr>
        <p:spPr>
          <a:xfrm>
            <a:off x="815975" y="1882725"/>
            <a:ext cx="2254250" cy="2349302"/>
          </a:xfrm>
          <a:prstGeom prst="roundRect">
            <a:avLst>
              <a:gd name="adj" fmla="val 4366"/>
            </a:avLst>
          </a:prstGeom>
          <a:solidFill>
            <a:srgbClr val="FFFDF8"/>
          </a:solidFill>
          <a:ln w="6350">
            <a:solidFill>
              <a:srgbClr val="DDD7C9"/>
            </a:solidFill>
            <a:prstDash val="solid"/>
          </a:ln>
        </p:spPr>
      </p:sp>
      <p:sp>
        <p:nvSpPr>
          <p:cNvPr id="5" name="Text 3"/>
          <p:cNvSpPr/>
          <p:nvPr/>
        </p:nvSpPr>
        <p:spPr>
          <a:xfrm>
            <a:off x="1022350" y="2089100"/>
            <a:ext cx="1896745"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A3A"/>
                </a:solidFill>
                <a:latin typeface="+mj-lt"/>
                <a:ea typeface="IBM Plex Sans" pitchFamily="34" charset="-122"/>
                <a:cs typeface="IBM Plex Sans" pitchFamily="34" charset="-120"/>
              </a:rPr>
              <a:t>Research problem</a:t>
            </a:r>
            <a:endParaRPr lang="en-US" sz="1600" dirty="0">
              <a:latin typeface="+mj-lt"/>
            </a:endParaRPr>
          </a:p>
        </p:txBody>
      </p:sp>
      <p:sp>
        <p:nvSpPr>
          <p:cNvPr id="6" name="Text 4"/>
          <p:cNvSpPr/>
          <p:nvPr/>
        </p:nvSpPr>
        <p:spPr>
          <a:xfrm>
            <a:off x="1022350" y="2409130"/>
            <a:ext cx="1896745"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57"/>
                </a:solidFill>
                <a:latin typeface="+mj-lt"/>
                <a:ea typeface="IBM Plex Sans" pitchFamily="34" charset="-122"/>
                <a:cs typeface="IBM Plex Sans" pitchFamily="34" charset="-120"/>
              </a:rPr>
              <a:t>The gap or issue you want to study</a:t>
            </a:r>
            <a:endParaRPr lang="en-US" sz="1400" dirty="0">
              <a:latin typeface="+mj-lt"/>
            </a:endParaRPr>
          </a:p>
        </p:txBody>
      </p:sp>
      <p:pic>
        <p:nvPicPr>
          <p:cNvPr id="7" name="Image 0" descr="line"/>
          <p:cNvPicPr>
            <a:picLocks noChangeAspect="1"/>
          </p:cNvPicPr>
          <p:nvPr/>
        </p:nvPicPr>
        <p:blipFill>
          <a:blip r:embed="rId3"/>
          <a:srcRect/>
          <a:stretch/>
        </p:blipFill>
        <p:spPr>
          <a:xfrm>
            <a:off x="1022350" y="2983111"/>
            <a:ext cx="1841500" cy="6350"/>
          </a:xfrm>
          <a:prstGeom prst="rect">
            <a:avLst/>
          </a:prstGeom>
        </p:spPr>
      </p:pic>
      <p:sp>
        <p:nvSpPr>
          <p:cNvPr id="8" name="Text 5"/>
          <p:cNvSpPr/>
          <p:nvPr/>
        </p:nvSpPr>
        <p:spPr>
          <a:xfrm>
            <a:off x="1022350" y="3065661"/>
            <a:ext cx="189674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8460F"/>
                </a:solidFill>
                <a:latin typeface="+mj-lt"/>
                <a:ea typeface="IBM Plex Sans" pitchFamily="34" charset="-122"/>
                <a:cs typeface="IBM Plex Sans" pitchFamily="34" charset="-120"/>
              </a:rPr>
              <a:t>Example</a:t>
            </a:r>
            <a:endParaRPr lang="en-US" sz="1200" dirty="0">
              <a:latin typeface="+mj-lt"/>
            </a:endParaRPr>
          </a:p>
        </p:txBody>
      </p:sp>
      <p:sp>
        <p:nvSpPr>
          <p:cNvPr id="9" name="Text 6"/>
          <p:cNvSpPr/>
          <p:nvPr/>
        </p:nvSpPr>
        <p:spPr>
          <a:xfrm>
            <a:off x="1022350" y="3355181"/>
            <a:ext cx="1896745" cy="665361"/>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3E4A57"/>
                </a:solidFill>
                <a:latin typeface="+mj-lt"/>
                <a:ea typeface="IBM Plex Sans" pitchFamily="34" charset="-122"/>
                <a:cs typeface="IBM Plex Sans" pitchFamily="34" charset="-120"/>
              </a:rPr>
              <a:t>Little is known about how students use AI tools for study.</a:t>
            </a:r>
            <a:endParaRPr lang="en-US" sz="1200" dirty="0">
              <a:latin typeface="+mj-lt"/>
            </a:endParaRPr>
          </a:p>
        </p:txBody>
      </p:sp>
      <p:pic>
        <p:nvPicPr>
          <p:cNvPr id="10" name="Image 1" descr="connector"/>
          <p:cNvPicPr>
            <a:picLocks noChangeAspect="1"/>
          </p:cNvPicPr>
          <p:nvPr/>
        </p:nvPicPr>
        <p:blipFill>
          <a:blip r:embed="rId4"/>
          <a:srcRect/>
          <a:stretch/>
        </p:blipFill>
        <p:spPr>
          <a:xfrm>
            <a:off x="3175000" y="3006576"/>
            <a:ext cx="304800" cy="101600"/>
          </a:xfrm>
          <a:prstGeom prst="rect">
            <a:avLst/>
          </a:prstGeom>
        </p:spPr>
      </p:pic>
      <p:sp>
        <p:nvSpPr>
          <p:cNvPr id="11" name="Shape 7"/>
          <p:cNvSpPr/>
          <p:nvPr/>
        </p:nvSpPr>
        <p:spPr>
          <a:xfrm>
            <a:off x="3584575" y="1882725"/>
            <a:ext cx="2254250" cy="2349302"/>
          </a:xfrm>
          <a:prstGeom prst="roundRect">
            <a:avLst>
              <a:gd name="adj" fmla="val 4366"/>
            </a:avLst>
          </a:prstGeom>
          <a:solidFill>
            <a:srgbClr val="FFFDF8"/>
          </a:solidFill>
          <a:ln w="6350">
            <a:solidFill>
              <a:srgbClr val="DDD7C9"/>
            </a:solidFill>
            <a:prstDash val="solid"/>
          </a:ln>
        </p:spPr>
      </p:sp>
      <p:sp>
        <p:nvSpPr>
          <p:cNvPr id="12" name="Text 8"/>
          <p:cNvSpPr/>
          <p:nvPr/>
        </p:nvSpPr>
        <p:spPr>
          <a:xfrm>
            <a:off x="3790950" y="2089100"/>
            <a:ext cx="1896745"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A3A"/>
                </a:solidFill>
                <a:latin typeface="+mj-lt"/>
                <a:ea typeface="IBM Plex Sans" pitchFamily="34" charset="-122"/>
                <a:cs typeface="IBM Plex Sans" pitchFamily="34" charset="-120"/>
              </a:rPr>
              <a:t>Aim</a:t>
            </a:r>
            <a:endParaRPr lang="en-US" sz="1600" dirty="0">
              <a:latin typeface="+mj-lt"/>
            </a:endParaRPr>
          </a:p>
        </p:txBody>
      </p:sp>
      <p:sp>
        <p:nvSpPr>
          <p:cNvPr id="13" name="Text 9"/>
          <p:cNvSpPr/>
          <p:nvPr/>
        </p:nvSpPr>
        <p:spPr>
          <a:xfrm>
            <a:off x="3790950" y="2409130"/>
            <a:ext cx="1896745"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57"/>
                </a:solidFill>
                <a:latin typeface="+mj-lt"/>
                <a:ea typeface="IBM Plex Sans" pitchFamily="34" charset="-122"/>
                <a:cs typeface="IBM Plex Sans" pitchFamily="34" charset="-120"/>
              </a:rPr>
              <a:t>The overall purpose in one sentence</a:t>
            </a:r>
            <a:endParaRPr lang="en-US" sz="1400" dirty="0">
              <a:latin typeface="+mj-lt"/>
            </a:endParaRPr>
          </a:p>
        </p:txBody>
      </p:sp>
      <p:pic>
        <p:nvPicPr>
          <p:cNvPr id="14" name="Image 2" descr="line"/>
          <p:cNvPicPr>
            <a:picLocks noChangeAspect="1"/>
          </p:cNvPicPr>
          <p:nvPr/>
        </p:nvPicPr>
        <p:blipFill>
          <a:blip r:embed="rId3"/>
          <a:srcRect/>
          <a:stretch/>
        </p:blipFill>
        <p:spPr>
          <a:xfrm>
            <a:off x="3790950" y="2983111"/>
            <a:ext cx="1841500" cy="6350"/>
          </a:xfrm>
          <a:prstGeom prst="rect">
            <a:avLst/>
          </a:prstGeom>
        </p:spPr>
      </p:pic>
      <p:sp>
        <p:nvSpPr>
          <p:cNvPr id="15" name="Text 10"/>
          <p:cNvSpPr/>
          <p:nvPr/>
        </p:nvSpPr>
        <p:spPr>
          <a:xfrm>
            <a:off x="3790950" y="3065661"/>
            <a:ext cx="189674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8460F"/>
                </a:solidFill>
                <a:latin typeface="+mj-lt"/>
                <a:ea typeface="IBM Plex Sans" pitchFamily="34" charset="-122"/>
                <a:cs typeface="IBM Plex Sans" pitchFamily="34" charset="-120"/>
              </a:rPr>
              <a:t>Example</a:t>
            </a:r>
            <a:endParaRPr lang="en-US" sz="1200" dirty="0">
              <a:latin typeface="+mj-lt"/>
            </a:endParaRPr>
          </a:p>
        </p:txBody>
      </p:sp>
      <p:sp>
        <p:nvSpPr>
          <p:cNvPr id="16" name="Text 11"/>
          <p:cNvSpPr/>
          <p:nvPr/>
        </p:nvSpPr>
        <p:spPr>
          <a:xfrm>
            <a:off x="3790950" y="3355181"/>
            <a:ext cx="1896745" cy="665361"/>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3E4A57"/>
                </a:solidFill>
                <a:latin typeface="+mj-lt"/>
                <a:ea typeface="IBM Plex Sans" pitchFamily="34" charset="-122"/>
                <a:cs typeface="IBM Plex Sans" pitchFamily="34" charset="-120"/>
              </a:rPr>
              <a:t>To examine students' use of, and attitudes to, AI tools.</a:t>
            </a:r>
            <a:endParaRPr lang="en-US" sz="1200" dirty="0">
              <a:latin typeface="+mj-lt"/>
            </a:endParaRPr>
          </a:p>
        </p:txBody>
      </p:sp>
      <p:pic>
        <p:nvPicPr>
          <p:cNvPr id="17" name="Image 3" descr="connector"/>
          <p:cNvPicPr>
            <a:picLocks noChangeAspect="1"/>
          </p:cNvPicPr>
          <p:nvPr/>
        </p:nvPicPr>
        <p:blipFill>
          <a:blip r:embed="rId4"/>
          <a:srcRect/>
          <a:stretch/>
        </p:blipFill>
        <p:spPr>
          <a:xfrm>
            <a:off x="5943600" y="3006576"/>
            <a:ext cx="304800" cy="101600"/>
          </a:xfrm>
          <a:prstGeom prst="rect">
            <a:avLst/>
          </a:prstGeom>
        </p:spPr>
      </p:pic>
      <p:sp>
        <p:nvSpPr>
          <p:cNvPr id="18" name="Shape 12"/>
          <p:cNvSpPr/>
          <p:nvPr/>
        </p:nvSpPr>
        <p:spPr>
          <a:xfrm>
            <a:off x="6353175" y="1882725"/>
            <a:ext cx="2254250" cy="2349302"/>
          </a:xfrm>
          <a:prstGeom prst="roundRect">
            <a:avLst>
              <a:gd name="adj" fmla="val 4366"/>
            </a:avLst>
          </a:prstGeom>
          <a:solidFill>
            <a:srgbClr val="FFFDF8"/>
          </a:solidFill>
          <a:ln w="6350">
            <a:solidFill>
              <a:srgbClr val="DDD7C9"/>
            </a:solidFill>
            <a:prstDash val="solid"/>
          </a:ln>
        </p:spPr>
      </p:sp>
      <p:sp>
        <p:nvSpPr>
          <p:cNvPr id="19" name="Text 13"/>
          <p:cNvSpPr/>
          <p:nvPr/>
        </p:nvSpPr>
        <p:spPr>
          <a:xfrm>
            <a:off x="6559550" y="2089100"/>
            <a:ext cx="1896745"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A3A"/>
                </a:solidFill>
                <a:latin typeface="+mj-lt"/>
                <a:ea typeface="IBM Plex Sans" pitchFamily="34" charset="-122"/>
                <a:cs typeface="IBM Plex Sans" pitchFamily="34" charset="-120"/>
              </a:rPr>
              <a:t>Objectives</a:t>
            </a:r>
            <a:endParaRPr lang="en-US" sz="1600" dirty="0">
              <a:latin typeface="+mj-lt"/>
            </a:endParaRPr>
          </a:p>
        </p:txBody>
      </p:sp>
      <p:sp>
        <p:nvSpPr>
          <p:cNvPr id="20" name="Text 14"/>
          <p:cNvSpPr/>
          <p:nvPr/>
        </p:nvSpPr>
        <p:spPr>
          <a:xfrm>
            <a:off x="6559550" y="2409130"/>
            <a:ext cx="1896745"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57"/>
                </a:solidFill>
                <a:latin typeface="+mj-lt"/>
                <a:ea typeface="IBM Plex Sans" pitchFamily="34" charset="-122"/>
                <a:cs typeface="IBM Plex Sans" pitchFamily="34" charset="-120"/>
              </a:rPr>
              <a:t>Specific, measurable things to do</a:t>
            </a:r>
            <a:endParaRPr lang="en-US" sz="1400" dirty="0">
              <a:latin typeface="+mj-lt"/>
            </a:endParaRPr>
          </a:p>
        </p:txBody>
      </p:sp>
      <p:pic>
        <p:nvPicPr>
          <p:cNvPr id="21" name="Image 4" descr="line"/>
          <p:cNvPicPr>
            <a:picLocks noChangeAspect="1"/>
          </p:cNvPicPr>
          <p:nvPr/>
        </p:nvPicPr>
        <p:blipFill>
          <a:blip r:embed="rId3"/>
          <a:srcRect/>
          <a:stretch/>
        </p:blipFill>
        <p:spPr>
          <a:xfrm>
            <a:off x="6559550" y="2983111"/>
            <a:ext cx="1841500" cy="6350"/>
          </a:xfrm>
          <a:prstGeom prst="rect">
            <a:avLst/>
          </a:prstGeom>
        </p:spPr>
      </p:pic>
      <p:sp>
        <p:nvSpPr>
          <p:cNvPr id="22" name="Text 15"/>
          <p:cNvSpPr/>
          <p:nvPr/>
        </p:nvSpPr>
        <p:spPr>
          <a:xfrm>
            <a:off x="6559550" y="3065661"/>
            <a:ext cx="189674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8460F"/>
                </a:solidFill>
                <a:latin typeface="+mj-lt"/>
                <a:ea typeface="IBM Plex Sans" pitchFamily="34" charset="-122"/>
                <a:cs typeface="IBM Plex Sans" pitchFamily="34" charset="-120"/>
              </a:rPr>
              <a:t>Example</a:t>
            </a:r>
            <a:endParaRPr lang="en-US" sz="1200" dirty="0">
              <a:latin typeface="+mj-lt"/>
            </a:endParaRPr>
          </a:p>
        </p:txBody>
      </p:sp>
      <p:sp>
        <p:nvSpPr>
          <p:cNvPr id="23" name="Text 16"/>
          <p:cNvSpPr/>
          <p:nvPr/>
        </p:nvSpPr>
        <p:spPr>
          <a:xfrm>
            <a:off x="6559550" y="3355181"/>
            <a:ext cx="1896745" cy="665361"/>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3E4A57"/>
                </a:solidFill>
                <a:latin typeface="+mj-lt"/>
                <a:ea typeface="IBM Plex Sans" pitchFamily="34" charset="-122"/>
                <a:cs typeface="IBM Plex Sans" pitchFamily="34" charset="-120"/>
              </a:rPr>
              <a:t>To measure how often students use AI tools for assignments.</a:t>
            </a:r>
            <a:endParaRPr lang="en-US" sz="1200" dirty="0">
              <a:latin typeface="+mj-lt"/>
            </a:endParaRPr>
          </a:p>
        </p:txBody>
      </p:sp>
      <p:pic>
        <p:nvPicPr>
          <p:cNvPr id="24" name="Image 5" descr="connector"/>
          <p:cNvPicPr>
            <a:picLocks noChangeAspect="1"/>
          </p:cNvPicPr>
          <p:nvPr/>
        </p:nvPicPr>
        <p:blipFill>
          <a:blip r:embed="rId4"/>
          <a:srcRect/>
          <a:stretch/>
        </p:blipFill>
        <p:spPr>
          <a:xfrm>
            <a:off x="8712200" y="3006576"/>
            <a:ext cx="304800" cy="101600"/>
          </a:xfrm>
          <a:prstGeom prst="rect">
            <a:avLst/>
          </a:prstGeom>
        </p:spPr>
      </p:pic>
      <p:sp>
        <p:nvSpPr>
          <p:cNvPr id="25" name="Shape 17"/>
          <p:cNvSpPr/>
          <p:nvPr/>
        </p:nvSpPr>
        <p:spPr>
          <a:xfrm>
            <a:off x="9121775" y="1882725"/>
            <a:ext cx="2254250" cy="2349302"/>
          </a:xfrm>
          <a:prstGeom prst="roundRect">
            <a:avLst>
              <a:gd name="adj" fmla="val 4366"/>
            </a:avLst>
          </a:prstGeom>
          <a:solidFill>
            <a:srgbClr val="FFFDF8"/>
          </a:solidFill>
          <a:ln w="6350">
            <a:solidFill>
              <a:srgbClr val="DDD7C9"/>
            </a:solidFill>
            <a:prstDash val="solid"/>
          </a:ln>
        </p:spPr>
      </p:sp>
      <p:sp>
        <p:nvSpPr>
          <p:cNvPr id="26" name="Text 18"/>
          <p:cNvSpPr/>
          <p:nvPr/>
        </p:nvSpPr>
        <p:spPr>
          <a:xfrm>
            <a:off x="9328150" y="2089100"/>
            <a:ext cx="1896745" cy="51306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A3A"/>
                </a:solidFill>
                <a:latin typeface="+mj-lt"/>
                <a:ea typeface="IBM Plex Sans" pitchFamily="34" charset="-122"/>
                <a:cs typeface="IBM Plex Sans" pitchFamily="34" charset="-120"/>
              </a:rPr>
              <a:t>Research questions</a:t>
            </a:r>
            <a:endParaRPr lang="en-US" sz="1600" dirty="0">
              <a:latin typeface="+mj-lt"/>
            </a:endParaRPr>
          </a:p>
        </p:txBody>
      </p:sp>
      <p:sp>
        <p:nvSpPr>
          <p:cNvPr id="27" name="Text 19"/>
          <p:cNvSpPr/>
          <p:nvPr/>
        </p:nvSpPr>
        <p:spPr>
          <a:xfrm>
            <a:off x="9328150" y="2652961"/>
            <a:ext cx="1896745"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57"/>
                </a:solidFill>
                <a:latin typeface="+mj-lt"/>
                <a:ea typeface="IBM Plex Sans" pitchFamily="34" charset="-122"/>
                <a:cs typeface="IBM Plex Sans" pitchFamily="34" charset="-120"/>
              </a:rPr>
              <a:t>What the data must answer</a:t>
            </a:r>
            <a:endParaRPr lang="en-US" sz="1400" dirty="0">
              <a:latin typeface="+mj-lt"/>
            </a:endParaRPr>
          </a:p>
        </p:txBody>
      </p:sp>
      <p:pic>
        <p:nvPicPr>
          <p:cNvPr id="28" name="Image 6" descr="line"/>
          <p:cNvPicPr>
            <a:picLocks noChangeAspect="1"/>
          </p:cNvPicPr>
          <p:nvPr/>
        </p:nvPicPr>
        <p:blipFill>
          <a:blip r:embed="rId3"/>
          <a:srcRect/>
          <a:stretch/>
        </p:blipFill>
        <p:spPr>
          <a:xfrm>
            <a:off x="9328150" y="3226941"/>
            <a:ext cx="1841500" cy="6350"/>
          </a:xfrm>
          <a:prstGeom prst="rect">
            <a:avLst/>
          </a:prstGeom>
        </p:spPr>
      </p:pic>
      <p:sp>
        <p:nvSpPr>
          <p:cNvPr id="29" name="Text 20"/>
          <p:cNvSpPr/>
          <p:nvPr/>
        </p:nvSpPr>
        <p:spPr>
          <a:xfrm>
            <a:off x="9328150" y="3309491"/>
            <a:ext cx="189674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8460F"/>
                </a:solidFill>
                <a:latin typeface="+mj-lt"/>
                <a:ea typeface="IBM Plex Sans" pitchFamily="34" charset="-122"/>
                <a:cs typeface="IBM Plex Sans" pitchFamily="34" charset="-120"/>
              </a:rPr>
              <a:t>Example</a:t>
            </a:r>
            <a:endParaRPr lang="en-US" sz="1200" dirty="0">
              <a:latin typeface="+mj-lt"/>
            </a:endParaRPr>
          </a:p>
        </p:txBody>
      </p:sp>
      <p:sp>
        <p:nvSpPr>
          <p:cNvPr id="30" name="Text 21"/>
          <p:cNvSpPr/>
          <p:nvPr/>
        </p:nvSpPr>
        <p:spPr>
          <a:xfrm>
            <a:off x="9328150" y="3599011"/>
            <a:ext cx="1896745" cy="452041"/>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3E4A57"/>
                </a:solidFill>
                <a:latin typeface="+mj-lt"/>
                <a:ea typeface="IBM Plex Sans" pitchFamily="34" charset="-122"/>
                <a:cs typeface="IBM Plex Sans" pitchFamily="34" charset="-120"/>
              </a:rPr>
              <a:t>Is frequency of AI use related to year of study?</a:t>
            </a:r>
            <a:endParaRPr lang="en-US" sz="1200" dirty="0">
              <a:latin typeface="+mj-lt"/>
            </a:endParaRPr>
          </a:p>
        </p:txBody>
      </p:sp>
      <p:sp>
        <p:nvSpPr>
          <p:cNvPr id="31" name="Text 22"/>
          <p:cNvSpPr/>
          <p:nvPr/>
        </p:nvSpPr>
        <p:spPr>
          <a:xfrm>
            <a:off x="812800" y="4540002"/>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A3A"/>
                </a:solidFill>
                <a:latin typeface="+mj-lt"/>
                <a:ea typeface="IBM Plex Sans" pitchFamily="34" charset="-122"/>
                <a:cs typeface="IBM Plex Sans" pitchFamily="34" charset="-120"/>
              </a:rPr>
              <a:t>Tip:</a:t>
            </a:r>
            <a:r>
              <a:rPr lang="en-US" sz="1400" dirty="0">
                <a:solidFill>
                  <a:srgbClr val="1B2A3A"/>
                </a:solidFill>
                <a:latin typeface="+mj-lt"/>
                <a:ea typeface="IBM Plex Sans" pitchFamily="34" charset="-122"/>
                <a:cs typeface="IBM Plex Sans" pitchFamily="34" charset="-120"/>
              </a:rPr>
              <a:t> every question in your questionnaire should link back to at least one objective.</a:t>
            </a:r>
            <a:endParaRPr lang="en-US" sz="1400" dirty="0">
              <a:latin typeface="+mj-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60F"/>
                </a:solidFill>
                <a:latin typeface="+mj-lt"/>
                <a:ea typeface="IBM Plex Sans" pitchFamily="34" charset="-122"/>
                <a:cs typeface="IBM Plex Sans" pitchFamily="34" charset="-120"/>
              </a:rPr>
              <a:t>STEP 2 · POPULATION AND SAMPLE</a:t>
            </a:r>
            <a:endParaRPr lang="en-US" sz="1200" dirty="0">
              <a:latin typeface="+mj-lt"/>
            </a:endParaRPr>
          </a:p>
        </p:txBody>
      </p:sp>
      <p:sp>
        <p:nvSpPr>
          <p:cNvPr id="3" name="Text 1"/>
          <p:cNvSpPr>
            <a:spLocks noGrp="1"/>
          </p:cNvSpPr>
          <p:nvPr>
            <p:ph type="title"/>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A3A"/>
                </a:solidFill>
                <a:latin typeface="+mj-lt"/>
                <a:ea typeface="Source Serif 4" pitchFamily="18" charset="-122"/>
                <a:cs typeface="Source Serif 4" pitchFamily="18" charset="-120"/>
              </a:rPr>
              <a:t>Who will you ask, and how many?</a:t>
            </a:r>
            <a:endParaRPr lang="en-US" sz="3200" dirty="0">
              <a:latin typeface="+mj-lt"/>
            </a:endParaRPr>
          </a:p>
        </p:txBody>
      </p:sp>
      <p:graphicFrame>
        <p:nvGraphicFramePr>
          <p:cNvPr id="4" name="Table 0"/>
          <p:cNvGraphicFramePr>
            <a:graphicFrameLocks noGrp="1"/>
          </p:cNvGraphicFramePr>
          <p:nvPr>
            <p:extLst>
              <p:ext uri="{D42A27DB-BD31-4B8C-83A1-F6EECF244321}">
                <p14:modId xmlns:p14="http://schemas.microsoft.com/office/powerpoint/2010/main" val="2150106971"/>
              </p:ext>
            </p:extLst>
          </p:nvPr>
        </p:nvGraphicFramePr>
        <p:xfrm>
          <a:off x="825500" y="1892250"/>
          <a:ext cx="6438900" cy="2994120"/>
        </p:xfrm>
        <a:graphic>
          <a:graphicData uri="http://schemas.openxmlformats.org/drawingml/2006/table">
            <a:tbl>
              <a:tblPr/>
              <a:tblGrid>
                <a:gridCol w="1416558">
                  <a:extLst>
                    <a:ext uri="{9D8B030D-6E8A-4147-A177-3AD203B41FA5}">
                      <a16:colId xmlns:a16="http://schemas.microsoft.com/office/drawing/2014/main" val="20000"/>
                    </a:ext>
                  </a:extLst>
                </a:gridCol>
                <a:gridCol w="1545336">
                  <a:extLst>
                    <a:ext uri="{9D8B030D-6E8A-4147-A177-3AD203B41FA5}">
                      <a16:colId xmlns:a16="http://schemas.microsoft.com/office/drawing/2014/main" val="20001"/>
                    </a:ext>
                  </a:extLst>
                </a:gridCol>
                <a:gridCol w="3477006">
                  <a:extLst>
                    <a:ext uri="{9D8B030D-6E8A-4147-A177-3AD203B41FA5}">
                      <a16:colId xmlns:a16="http://schemas.microsoft.com/office/drawing/2014/main" val="20002"/>
                    </a:ext>
                  </a:extLst>
                </a:gridCol>
              </a:tblGrid>
              <a:tr h="332680">
                <a:tc>
                  <a:txBody>
                    <a:bodyPr/>
                    <a:lstStyle/>
                    <a:p>
                      <a:pPr marL="0" indent="0">
                        <a:lnSpc>
                          <a:spcPts val="1680"/>
                        </a:lnSpc>
                        <a:buNone/>
                      </a:pPr>
                      <a:r>
                        <a:rPr lang="en-US" sz="1200" b="1" dirty="0">
                          <a:solidFill>
                            <a:srgbClr val="F6F4EE"/>
                          </a:solidFill>
                          <a:latin typeface="+mj-lt"/>
                          <a:ea typeface="IBM Plex Sans" pitchFamily="34" charset="-122"/>
                          <a:cs typeface="IBM Plex Sans" pitchFamily="34" charset="-120"/>
                        </a:rPr>
                        <a:t>Type</a:t>
                      </a:r>
                      <a:endParaRPr lang="en-US" sz="1200" dirty="0">
                        <a:latin typeface="+mj-lt"/>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1925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92531"/>
                      </a:solidFill>
                      <a:prstDash val="solid"/>
                      <a:round/>
                      <a:headEnd type="none" w="med" len="med"/>
                      <a:tailEnd type="none" w="med" len="med"/>
                    </a:lnB>
                    <a:solidFill>
                      <a:srgbClr val="1B2A3A"/>
                    </a:solidFill>
                  </a:tcPr>
                </a:tc>
                <a:tc>
                  <a:txBody>
                    <a:bodyPr/>
                    <a:lstStyle/>
                    <a:p>
                      <a:pPr marL="0" indent="0">
                        <a:lnSpc>
                          <a:spcPts val="1680"/>
                        </a:lnSpc>
                        <a:buNone/>
                      </a:pPr>
                      <a:r>
                        <a:rPr lang="en-US" sz="1200" b="1" dirty="0">
                          <a:solidFill>
                            <a:srgbClr val="F6F4EE"/>
                          </a:solidFill>
                          <a:latin typeface="+mj-lt"/>
                          <a:ea typeface="IBM Plex Sans" pitchFamily="34" charset="-122"/>
                          <a:cs typeface="IBM Plex Sans" pitchFamily="34" charset="-120"/>
                        </a:rPr>
                        <a:t>Method</a:t>
                      </a:r>
                      <a:endParaRPr lang="en-US" sz="1200" dirty="0">
                        <a:latin typeface="+mj-lt"/>
                        <a:ea typeface="IBM Plex Sans" charset="0"/>
                        <a:cs typeface="IBM Plex Sans" charset="0"/>
                      </a:endParaRPr>
                    </a:p>
                  </a:txBody>
                  <a:tcPr marL="53340" marR="53340" marT="53340" marB="53340">
                    <a:lnL w="12700" cap="flat" cmpd="sng" algn="ctr">
                      <a:solidFill>
                        <a:srgbClr val="192531"/>
                      </a:solidFill>
                      <a:prstDash val="solid"/>
                      <a:round/>
                      <a:headEnd type="none" w="med" len="med"/>
                      <a:tailEnd type="none" w="med" len="med"/>
                    </a:lnL>
                    <a:lnR w="12700" cap="flat" cmpd="sng" algn="ctr">
                      <a:solidFill>
                        <a:srgbClr val="1925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92531"/>
                      </a:solidFill>
                      <a:prstDash val="solid"/>
                      <a:round/>
                      <a:headEnd type="none" w="med" len="med"/>
                      <a:tailEnd type="none" w="med" len="med"/>
                    </a:lnB>
                    <a:solidFill>
                      <a:srgbClr val="1B2A3A"/>
                    </a:solidFill>
                  </a:tcPr>
                </a:tc>
                <a:tc>
                  <a:txBody>
                    <a:bodyPr/>
                    <a:lstStyle/>
                    <a:p>
                      <a:pPr marL="0" indent="0">
                        <a:lnSpc>
                          <a:spcPts val="1680"/>
                        </a:lnSpc>
                        <a:buNone/>
                      </a:pPr>
                      <a:r>
                        <a:rPr lang="en-US" sz="1200" b="1" dirty="0">
                          <a:solidFill>
                            <a:srgbClr val="F6F4EE"/>
                          </a:solidFill>
                          <a:latin typeface="+mj-lt"/>
                          <a:ea typeface="IBM Plex Sans" pitchFamily="34" charset="-122"/>
                          <a:cs typeface="IBM Plex Sans" pitchFamily="34" charset="-120"/>
                        </a:rPr>
                        <a:t>How it works</a:t>
                      </a:r>
                      <a:endParaRPr lang="en-US" sz="1200" dirty="0">
                        <a:latin typeface="+mj-lt"/>
                        <a:ea typeface="IBM Plex Sans" charset="0"/>
                        <a:cs typeface="IBM Plex Sans" charset="0"/>
                      </a:endParaRPr>
                    </a:p>
                  </a:txBody>
                  <a:tcPr marL="53340" marR="53340" marT="53340" marB="53340">
                    <a:lnL w="12700" cap="flat" cmpd="sng" algn="ctr">
                      <a:solidFill>
                        <a:srgbClr val="192531"/>
                      </a:solidFill>
                      <a:prstDash val="solid"/>
                      <a:round/>
                      <a:headEnd type="none" w="med" len="med"/>
                      <a:tailEnd type="none" w="med" len="med"/>
                    </a:lnL>
                    <a:lnR w="12700" cap="flat" cmpd="sng" algn="ctr">
                      <a:solidFill>
                        <a:srgbClr val="1925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92531"/>
                      </a:solidFill>
                      <a:prstDash val="solid"/>
                      <a:round/>
                      <a:headEnd type="none" w="med" len="med"/>
                      <a:tailEnd type="none" w="med" len="med"/>
                    </a:lnB>
                    <a:solidFill>
                      <a:srgbClr val="1B2A3A"/>
                    </a:solidFill>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Probability</a:t>
                      </a:r>
                      <a:endParaRPr lang="en-US" sz="1200" dirty="0">
                        <a:latin typeface="+mj-lt"/>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Simple random</a:t>
                      </a:r>
                      <a:endParaRPr lang="en-US" sz="1200" dirty="0">
                        <a:latin typeface="+mj-lt"/>
                        <a:ea typeface="IBM Plex Sans" charset="0"/>
                        <a:cs typeface="IBM Plex Sans" charset="0"/>
                      </a:endParaRPr>
                    </a:p>
                  </a:txBody>
                  <a:tcPr marL="53340" marR="53340" marT="53340" marB="5334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Everyone has an equal chance</a:t>
                      </a:r>
                      <a:endParaRPr lang="en-US" sz="1200" dirty="0">
                        <a:latin typeface="+mj-lt"/>
                        <a:ea typeface="IBM Plex Sans" charset="0"/>
                        <a:cs typeface="IBM Plex Sans" charset="0"/>
                      </a:endParaRPr>
                    </a:p>
                  </a:txBody>
                  <a:tcPr marL="53340" marR="53340" marT="53340" marB="5334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332680">
                <a:tc>
                  <a:txBody>
                    <a:bodyPr/>
                    <a:lstStyle/>
                    <a:p>
                      <a:pPr marL="0" indent="0">
                        <a:lnSpc>
                          <a:spcPts val="1680"/>
                        </a:lnSpc>
                        <a:buNone/>
                      </a:pPr>
                      <a:endParaRPr lang="en-US" sz="1200" dirty="0">
                        <a:latin typeface="+mj-lt"/>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Stratified</a:t>
                      </a:r>
                      <a:endParaRPr lang="en-US" sz="1200" dirty="0">
                        <a:latin typeface="+mj-lt"/>
                        <a:ea typeface="IBM Plex Sans" charset="0"/>
                        <a:cs typeface="IBM Plex Sans" charset="0"/>
                      </a:endParaRPr>
                    </a:p>
                  </a:txBody>
                  <a:tcPr marL="53340" marR="53340" marT="53340" marB="5334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Random selection within subgroups</a:t>
                      </a:r>
                      <a:endParaRPr lang="en-US" sz="1200" dirty="0">
                        <a:latin typeface="+mj-lt"/>
                        <a:ea typeface="IBM Plex Sans" charset="0"/>
                        <a:cs typeface="IBM Plex Sans" charset="0"/>
                      </a:endParaRPr>
                    </a:p>
                  </a:txBody>
                  <a:tcPr marL="53340" marR="53340" marT="53340" marB="5334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2"/>
                  </a:ext>
                </a:extLst>
              </a:tr>
              <a:tr h="332680">
                <a:tc>
                  <a:txBody>
                    <a:bodyPr/>
                    <a:lstStyle/>
                    <a:p>
                      <a:pPr marL="0" indent="0">
                        <a:lnSpc>
                          <a:spcPts val="1680"/>
                        </a:lnSpc>
                        <a:buNone/>
                      </a:pPr>
                      <a:endParaRPr lang="en-US" sz="1200" dirty="0">
                        <a:latin typeface="+mj-lt"/>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Systematic</a:t>
                      </a:r>
                      <a:endParaRPr lang="en-US" sz="1200" dirty="0">
                        <a:latin typeface="+mj-lt"/>
                        <a:ea typeface="IBM Plex Sans" charset="0"/>
                        <a:cs typeface="IBM Plex Sans" charset="0"/>
                      </a:endParaRPr>
                    </a:p>
                  </a:txBody>
                  <a:tcPr marL="53340" marR="53340" marT="53340" marB="5334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Every k-th person from a list</a:t>
                      </a:r>
                      <a:endParaRPr lang="en-US" sz="1200" dirty="0">
                        <a:latin typeface="+mj-lt"/>
                        <a:ea typeface="IBM Plex Sans" charset="0"/>
                        <a:cs typeface="IBM Plex Sans" charset="0"/>
                      </a:endParaRPr>
                    </a:p>
                  </a:txBody>
                  <a:tcPr marL="53340" marR="53340" marT="53340" marB="5334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r h="332680">
                <a:tc>
                  <a:txBody>
                    <a:bodyPr/>
                    <a:lstStyle/>
                    <a:p>
                      <a:pPr marL="0" indent="0">
                        <a:lnSpc>
                          <a:spcPts val="1680"/>
                        </a:lnSpc>
                        <a:buNone/>
                      </a:pPr>
                      <a:endParaRPr lang="en-US" sz="1200" dirty="0">
                        <a:latin typeface="+mj-lt"/>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Cluster</a:t>
                      </a:r>
                      <a:endParaRPr lang="en-US" sz="1200" dirty="0">
                        <a:latin typeface="+mj-lt"/>
                        <a:ea typeface="IBM Plex Sans" charset="0"/>
                        <a:cs typeface="IBM Plex Sans" charset="0"/>
                      </a:endParaRPr>
                    </a:p>
                  </a:txBody>
                  <a:tcPr marL="53340" marR="53340" marT="53340" marB="5334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Randomly select whole groups</a:t>
                      </a:r>
                      <a:endParaRPr lang="en-US" sz="1200" dirty="0">
                        <a:latin typeface="+mj-lt"/>
                        <a:ea typeface="IBM Plex Sans" charset="0"/>
                        <a:cs typeface="IBM Plex Sans" charset="0"/>
                      </a:endParaRPr>
                    </a:p>
                  </a:txBody>
                  <a:tcPr marL="53340" marR="53340" marT="53340" marB="5334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4"/>
                  </a:ext>
                </a:extLst>
              </a:tr>
              <a:tr h="332680">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Non-probability</a:t>
                      </a:r>
                      <a:endParaRPr lang="en-US" sz="1200" dirty="0">
                        <a:latin typeface="+mj-lt"/>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Convenience</a:t>
                      </a:r>
                      <a:endParaRPr lang="en-US" sz="1200" dirty="0">
                        <a:latin typeface="+mj-lt"/>
                        <a:ea typeface="IBM Plex Sans" charset="0"/>
                        <a:cs typeface="IBM Plex Sans" charset="0"/>
                      </a:endParaRPr>
                    </a:p>
                  </a:txBody>
                  <a:tcPr marL="53340" marR="53340" marT="53340" marB="5334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Whoever is easiest to reach</a:t>
                      </a:r>
                      <a:endParaRPr lang="en-US" sz="1200" dirty="0">
                        <a:latin typeface="+mj-lt"/>
                        <a:ea typeface="IBM Plex Sans" charset="0"/>
                        <a:cs typeface="IBM Plex Sans" charset="0"/>
                      </a:endParaRPr>
                    </a:p>
                  </a:txBody>
                  <a:tcPr marL="53340" marR="53340" marT="53340" marB="5334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extLst>
                  <a:ext uri="{0D108BD9-81ED-4DB2-BD59-A6C34878D82A}">
                    <a16:rowId xmlns:a16="http://schemas.microsoft.com/office/drawing/2014/main" val="10005"/>
                  </a:ext>
                </a:extLst>
              </a:tr>
              <a:tr h="332680">
                <a:tc>
                  <a:txBody>
                    <a:bodyPr/>
                    <a:lstStyle/>
                    <a:p>
                      <a:pPr marL="0" indent="0">
                        <a:lnSpc>
                          <a:spcPts val="1680"/>
                        </a:lnSpc>
                        <a:buNone/>
                      </a:pPr>
                      <a:endParaRPr lang="en-US" sz="1200" dirty="0">
                        <a:latin typeface="+mj-lt"/>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Purposive</a:t>
                      </a:r>
                      <a:endParaRPr lang="en-US" sz="1200" dirty="0">
                        <a:latin typeface="+mj-lt"/>
                        <a:ea typeface="IBM Plex Sans" charset="0"/>
                        <a:cs typeface="IBM Plex Sans" charset="0"/>
                      </a:endParaRPr>
                    </a:p>
                  </a:txBody>
                  <a:tcPr marL="53340" marR="53340" marT="53340" marB="5334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Chosen for specific characteristics</a:t>
                      </a:r>
                      <a:endParaRPr lang="en-US" sz="1200" dirty="0">
                        <a:latin typeface="+mj-lt"/>
                        <a:ea typeface="IBM Plex Sans" charset="0"/>
                        <a:cs typeface="IBM Plex Sans" charset="0"/>
                      </a:endParaRPr>
                    </a:p>
                  </a:txBody>
                  <a:tcPr marL="53340" marR="53340" marT="53340" marB="5334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extLst>
                  <a:ext uri="{0D108BD9-81ED-4DB2-BD59-A6C34878D82A}">
                    <a16:rowId xmlns:a16="http://schemas.microsoft.com/office/drawing/2014/main" val="10006"/>
                  </a:ext>
                </a:extLst>
              </a:tr>
              <a:tr h="332680">
                <a:tc>
                  <a:txBody>
                    <a:bodyPr/>
                    <a:lstStyle/>
                    <a:p>
                      <a:pPr marL="0" indent="0">
                        <a:lnSpc>
                          <a:spcPts val="1680"/>
                        </a:lnSpc>
                        <a:buNone/>
                      </a:pPr>
                      <a:endParaRPr lang="en-US" sz="1200" dirty="0">
                        <a:latin typeface="+mj-lt"/>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Quota</a:t>
                      </a:r>
                      <a:endParaRPr lang="en-US" sz="1200" dirty="0">
                        <a:latin typeface="+mj-lt"/>
                        <a:ea typeface="IBM Plex Sans" charset="0"/>
                        <a:cs typeface="IBM Plex Sans" charset="0"/>
                      </a:endParaRPr>
                    </a:p>
                  </a:txBody>
                  <a:tcPr marL="53340" marR="53340" marT="53340" marB="5334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Fixed numbers from each group</a:t>
                      </a:r>
                      <a:endParaRPr lang="en-US" sz="1200" dirty="0">
                        <a:latin typeface="+mj-lt"/>
                        <a:ea typeface="IBM Plex Sans" charset="0"/>
                        <a:cs typeface="IBM Plex Sans" charset="0"/>
                      </a:endParaRPr>
                    </a:p>
                  </a:txBody>
                  <a:tcPr marL="53340" marR="53340" marT="53340" marB="5334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extLst>
                  <a:ext uri="{0D108BD9-81ED-4DB2-BD59-A6C34878D82A}">
                    <a16:rowId xmlns:a16="http://schemas.microsoft.com/office/drawing/2014/main" val="10007"/>
                  </a:ext>
                </a:extLst>
              </a:tr>
              <a:tr h="332680">
                <a:tc>
                  <a:txBody>
                    <a:bodyPr/>
                    <a:lstStyle/>
                    <a:p>
                      <a:pPr marL="0" indent="0">
                        <a:lnSpc>
                          <a:spcPts val="1680"/>
                        </a:lnSpc>
                        <a:buNone/>
                      </a:pPr>
                      <a:endParaRPr lang="en-US" sz="1200" dirty="0">
                        <a:latin typeface="+mj-lt"/>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Snowball</a:t>
                      </a:r>
                      <a:endParaRPr lang="en-US" sz="1200" dirty="0">
                        <a:latin typeface="+mj-lt"/>
                        <a:ea typeface="IBM Plex Sans" charset="0"/>
                        <a:cs typeface="IBM Plex Sans" charset="0"/>
                      </a:endParaRPr>
                    </a:p>
                  </a:txBody>
                  <a:tcPr marL="53340" marR="53340" marT="53340" marB="5334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Participants recruit others</a:t>
                      </a:r>
                      <a:endParaRPr lang="en-US" sz="1200" dirty="0">
                        <a:latin typeface="+mj-lt"/>
                        <a:ea typeface="IBM Plex Sans" charset="0"/>
                        <a:cs typeface="IBM Plex Sans" charset="0"/>
                      </a:endParaRPr>
                    </a:p>
                  </a:txBody>
                  <a:tcPr marL="53340" marR="53340" marT="53340" marB="5334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extLst>
                  <a:ext uri="{0D108BD9-81ED-4DB2-BD59-A6C34878D82A}">
                    <a16:rowId xmlns:a16="http://schemas.microsoft.com/office/drawing/2014/main" val="10008"/>
                  </a:ext>
                </a:extLst>
              </a:tr>
            </a:tbl>
          </a:graphicData>
        </a:graphic>
      </p:graphicFrame>
      <p:sp>
        <p:nvSpPr>
          <p:cNvPr id="5" name="Shape 2"/>
          <p:cNvSpPr/>
          <p:nvPr/>
        </p:nvSpPr>
        <p:spPr>
          <a:xfrm>
            <a:off x="7572375" y="1882725"/>
            <a:ext cx="3803650" cy="3074343"/>
          </a:xfrm>
          <a:prstGeom prst="roundRect">
            <a:avLst>
              <a:gd name="adj" fmla="val 3201"/>
            </a:avLst>
          </a:prstGeom>
          <a:solidFill>
            <a:srgbClr val="FFFDF8"/>
          </a:solidFill>
          <a:ln w="6350">
            <a:solidFill>
              <a:srgbClr val="DDD7C9"/>
            </a:solidFill>
            <a:prstDash val="solid"/>
          </a:ln>
        </p:spPr>
      </p:sp>
      <p:sp>
        <p:nvSpPr>
          <p:cNvPr id="6" name="Text 3"/>
          <p:cNvSpPr/>
          <p:nvPr/>
        </p:nvSpPr>
        <p:spPr>
          <a:xfrm>
            <a:off x="7804150" y="2114500"/>
            <a:ext cx="344030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2A3A"/>
                </a:solidFill>
                <a:latin typeface="+mj-lt"/>
                <a:ea typeface="IBM Plex Sans" pitchFamily="34" charset="-122"/>
                <a:cs typeface="IBM Plex Sans" pitchFamily="34" charset="-120"/>
              </a:rPr>
              <a:t>Sample size</a:t>
            </a:r>
            <a:endParaRPr lang="en-US" sz="1800" dirty="0">
              <a:latin typeface="+mj-lt"/>
            </a:endParaRPr>
          </a:p>
        </p:txBody>
      </p:sp>
      <p:sp>
        <p:nvSpPr>
          <p:cNvPr id="7" name="Text 4"/>
          <p:cNvSpPr/>
          <p:nvPr/>
        </p:nvSpPr>
        <p:spPr>
          <a:xfrm>
            <a:off x="7804150" y="2490391"/>
            <a:ext cx="344030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7"/>
                </a:solidFill>
                <a:latin typeface="+mj-lt"/>
                <a:ea typeface="IBM Plex Sans" pitchFamily="34" charset="-122"/>
                <a:cs typeface="IBM Plex Sans" pitchFamily="34" charset="-120"/>
              </a:rPr>
              <a:t>Larger samples reduce sampling error. A common formula (Yamane):</a:t>
            </a:r>
            <a:endParaRPr lang="en-US" sz="1200" dirty="0">
              <a:latin typeface="+mj-lt"/>
            </a:endParaRPr>
          </a:p>
        </p:txBody>
      </p:sp>
      <p:sp>
        <p:nvSpPr>
          <p:cNvPr id="8" name="Text 5"/>
          <p:cNvSpPr/>
          <p:nvPr/>
        </p:nvSpPr>
        <p:spPr>
          <a:xfrm>
            <a:off x="7804150" y="3018631"/>
            <a:ext cx="3440303"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A8460F"/>
                </a:solidFill>
                <a:latin typeface="+mj-lt"/>
                <a:ea typeface="Source Serif 4" pitchFamily="18" charset="-122"/>
                <a:cs typeface="Source Serif 4" pitchFamily="18" charset="-120"/>
              </a:rPr>
              <a:t>n = N ÷ (1 + N·e²)</a:t>
            </a:r>
            <a:endParaRPr lang="en-US" sz="2200" dirty="0">
              <a:latin typeface="+mj-lt"/>
            </a:endParaRPr>
          </a:p>
        </p:txBody>
      </p:sp>
      <p:sp>
        <p:nvSpPr>
          <p:cNvPr id="9" name="Text 6"/>
          <p:cNvSpPr/>
          <p:nvPr/>
        </p:nvSpPr>
        <p:spPr>
          <a:xfrm>
            <a:off x="7804150" y="3455491"/>
            <a:ext cx="344030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7"/>
                </a:solidFill>
                <a:latin typeface="+mj-lt"/>
                <a:ea typeface="IBM Plex Sans" pitchFamily="34" charset="-122"/>
                <a:cs typeface="IBM Plex Sans" pitchFamily="34" charset="-120"/>
              </a:rPr>
              <a:t>N = population size, e = margin of error (e.g. 0.05)</a:t>
            </a:r>
            <a:endParaRPr lang="en-US" sz="1200" dirty="0">
              <a:latin typeface="+mj-lt"/>
            </a:endParaRPr>
          </a:p>
        </p:txBody>
      </p:sp>
      <p:sp>
        <p:nvSpPr>
          <p:cNvPr id="10" name="Text 7"/>
          <p:cNvSpPr/>
          <p:nvPr/>
        </p:nvSpPr>
        <p:spPr>
          <a:xfrm>
            <a:off x="7804150" y="3983732"/>
            <a:ext cx="3440303"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A3A"/>
                </a:solidFill>
                <a:latin typeface="+mj-lt"/>
                <a:ea typeface="IBM Plex Sans" pitchFamily="34" charset="-122"/>
                <a:cs typeface="IBM Plex Sans" pitchFamily="34" charset="-120"/>
              </a:rPr>
              <a:t>Example:</a:t>
            </a:r>
            <a:r>
              <a:rPr lang="en-US" sz="1200" dirty="0">
                <a:solidFill>
                  <a:srgbClr val="1B2A3A"/>
                </a:solidFill>
                <a:latin typeface="+mj-lt"/>
                <a:ea typeface="IBM Plex Sans" pitchFamily="34" charset="-122"/>
                <a:cs typeface="IBM Plex Sans" pitchFamily="34" charset="-120"/>
              </a:rPr>
              <a:t> N = 2,000, e = 0.05 → n = 2,000 ÷ 6 ≈ 333</a:t>
            </a:r>
            <a:endParaRPr lang="en-US" sz="1200" dirty="0">
              <a:latin typeface="+mj-lt"/>
            </a:endParaRPr>
          </a:p>
        </p:txBody>
      </p:sp>
      <p:sp>
        <p:nvSpPr>
          <p:cNvPr id="11" name="Text 8"/>
          <p:cNvSpPr/>
          <p:nvPr/>
        </p:nvSpPr>
        <p:spPr>
          <a:xfrm>
            <a:off x="7804150" y="4511973"/>
            <a:ext cx="344030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7"/>
                </a:solidFill>
                <a:latin typeface="+mj-lt"/>
                <a:ea typeface="IBM Plex Sans" pitchFamily="34" charset="-122"/>
                <a:cs typeface="IBM Plex Sans" pitchFamily="34" charset="-120"/>
              </a:rPr>
              <a:t>Add 10–20% extra to allow for non-response.</a:t>
            </a:r>
            <a:endParaRPr lang="en-US" sz="1200" dirty="0">
              <a:latin typeface="+mj-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60F"/>
                </a:solidFill>
                <a:latin typeface="+mj-lt"/>
                <a:ea typeface="IBM Plex Sans" pitchFamily="34" charset="-122"/>
                <a:cs typeface="IBM Plex Sans" pitchFamily="34" charset="-120"/>
              </a:rPr>
              <a:t>STEP 3 · QUESTION TYPES AND WORDING</a:t>
            </a:r>
            <a:endParaRPr lang="en-US" sz="1200" dirty="0">
              <a:latin typeface="+mj-lt"/>
            </a:endParaRPr>
          </a:p>
        </p:txBody>
      </p:sp>
      <p:sp>
        <p:nvSpPr>
          <p:cNvPr id="3" name="Text 1"/>
          <p:cNvSpPr>
            <a:spLocks noGrp="1"/>
          </p:cNvSpPr>
          <p:nvPr>
            <p:ph type="title"/>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A3A"/>
                </a:solidFill>
                <a:latin typeface="+mj-lt"/>
                <a:ea typeface="Source Serif 4" pitchFamily="18" charset="-122"/>
                <a:cs typeface="Source Serif 4" pitchFamily="18" charset="-120"/>
              </a:rPr>
              <a:t>Writing good questions</a:t>
            </a:r>
            <a:endParaRPr lang="en-US" sz="3200" dirty="0">
              <a:latin typeface="+mj-lt"/>
            </a:endParaRPr>
          </a:p>
        </p:txBody>
      </p:sp>
      <p:sp>
        <p:nvSpPr>
          <p:cNvPr id="4" name="Shape 2"/>
          <p:cNvSpPr/>
          <p:nvPr/>
        </p:nvSpPr>
        <p:spPr>
          <a:xfrm>
            <a:off x="815975" y="1806525"/>
            <a:ext cx="2005310" cy="1514921"/>
          </a:xfrm>
          <a:prstGeom prst="roundRect">
            <a:avLst>
              <a:gd name="adj" fmla="val 6497"/>
            </a:avLst>
          </a:prstGeom>
          <a:solidFill>
            <a:srgbClr val="FFFDF8"/>
          </a:solidFill>
          <a:ln w="6350">
            <a:solidFill>
              <a:srgbClr val="DDD7C9"/>
            </a:solidFill>
            <a:prstDash val="solid"/>
          </a:ln>
        </p:spPr>
      </p:sp>
      <p:sp>
        <p:nvSpPr>
          <p:cNvPr id="5" name="Text 3"/>
          <p:cNvSpPr/>
          <p:nvPr/>
        </p:nvSpPr>
        <p:spPr>
          <a:xfrm>
            <a:off x="996950" y="1987500"/>
            <a:ext cx="169416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A3A"/>
                </a:solidFill>
                <a:latin typeface="+mj-lt"/>
                <a:ea typeface="IBM Plex Sans" pitchFamily="34" charset="-122"/>
                <a:cs typeface="IBM Plex Sans" pitchFamily="34" charset="-120"/>
              </a:rPr>
              <a:t>Dichotomous</a:t>
            </a:r>
            <a:endParaRPr lang="en-US" sz="1400" dirty="0">
              <a:latin typeface="+mj-lt"/>
            </a:endParaRPr>
          </a:p>
        </p:txBody>
      </p:sp>
      <p:sp>
        <p:nvSpPr>
          <p:cNvPr id="6" name="Text 4"/>
          <p:cNvSpPr/>
          <p:nvPr/>
        </p:nvSpPr>
        <p:spPr>
          <a:xfrm>
            <a:off x="996950" y="2287191"/>
            <a:ext cx="169416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7"/>
                </a:solidFill>
                <a:latin typeface="+mj-lt"/>
                <a:ea typeface="IBM Plex Sans" pitchFamily="34" charset="-122"/>
                <a:cs typeface="IBM Plex Sans" pitchFamily="34" charset="-120"/>
              </a:rPr>
              <a:t>"Have you used an AI tool this week?" Yes / No</a:t>
            </a:r>
            <a:endParaRPr lang="en-US" sz="1200" dirty="0">
              <a:latin typeface="+mj-lt"/>
            </a:endParaRPr>
          </a:p>
        </p:txBody>
      </p:sp>
      <p:sp>
        <p:nvSpPr>
          <p:cNvPr id="7" name="Shape 5"/>
          <p:cNvSpPr/>
          <p:nvPr/>
        </p:nvSpPr>
        <p:spPr>
          <a:xfrm>
            <a:off x="2954635" y="1806525"/>
            <a:ext cx="2005360" cy="1514921"/>
          </a:xfrm>
          <a:prstGeom prst="roundRect">
            <a:avLst>
              <a:gd name="adj" fmla="val 6497"/>
            </a:avLst>
          </a:prstGeom>
          <a:solidFill>
            <a:srgbClr val="FFFDF8"/>
          </a:solidFill>
          <a:ln w="6350">
            <a:solidFill>
              <a:srgbClr val="DDD7C9"/>
            </a:solidFill>
            <a:prstDash val="solid"/>
          </a:ln>
        </p:spPr>
      </p:sp>
      <p:sp>
        <p:nvSpPr>
          <p:cNvPr id="8" name="Text 6"/>
          <p:cNvSpPr/>
          <p:nvPr/>
        </p:nvSpPr>
        <p:spPr>
          <a:xfrm>
            <a:off x="3135610" y="1987500"/>
            <a:ext cx="169421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A3A"/>
                </a:solidFill>
                <a:latin typeface="+mj-lt"/>
                <a:ea typeface="IBM Plex Sans" pitchFamily="34" charset="-122"/>
                <a:cs typeface="IBM Plex Sans" pitchFamily="34" charset="-120"/>
              </a:rPr>
              <a:t>Multiple choice</a:t>
            </a:r>
            <a:endParaRPr lang="en-US" sz="1400" dirty="0">
              <a:latin typeface="+mj-lt"/>
            </a:endParaRPr>
          </a:p>
        </p:txBody>
      </p:sp>
      <p:sp>
        <p:nvSpPr>
          <p:cNvPr id="9" name="Text 7"/>
          <p:cNvSpPr/>
          <p:nvPr/>
        </p:nvSpPr>
        <p:spPr>
          <a:xfrm>
            <a:off x="3135610" y="2287191"/>
            <a:ext cx="169421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7"/>
                </a:solidFill>
                <a:latin typeface="+mj-lt"/>
                <a:ea typeface="IBM Plex Sans" pitchFamily="34" charset="-122"/>
                <a:cs typeface="IBM Plex Sans" pitchFamily="34" charset="-120"/>
              </a:rPr>
              <a:t>"Which tool do you use most?" A / B / C / Other</a:t>
            </a:r>
            <a:endParaRPr lang="en-US" sz="1200" dirty="0">
              <a:latin typeface="+mj-lt"/>
            </a:endParaRPr>
          </a:p>
        </p:txBody>
      </p:sp>
      <p:sp>
        <p:nvSpPr>
          <p:cNvPr id="10" name="Shape 8"/>
          <p:cNvSpPr/>
          <p:nvPr/>
        </p:nvSpPr>
        <p:spPr>
          <a:xfrm>
            <a:off x="5093345" y="1806525"/>
            <a:ext cx="2005310" cy="1514921"/>
          </a:xfrm>
          <a:prstGeom prst="roundRect">
            <a:avLst>
              <a:gd name="adj" fmla="val 6497"/>
            </a:avLst>
          </a:prstGeom>
          <a:solidFill>
            <a:srgbClr val="FFFDF8"/>
          </a:solidFill>
          <a:ln w="6350">
            <a:solidFill>
              <a:srgbClr val="DDD7C9"/>
            </a:solidFill>
            <a:prstDash val="solid"/>
          </a:ln>
        </p:spPr>
      </p:sp>
      <p:sp>
        <p:nvSpPr>
          <p:cNvPr id="11" name="Text 9"/>
          <p:cNvSpPr/>
          <p:nvPr/>
        </p:nvSpPr>
        <p:spPr>
          <a:xfrm>
            <a:off x="5274320" y="1987500"/>
            <a:ext cx="169416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A3A"/>
                </a:solidFill>
                <a:latin typeface="+mj-lt"/>
                <a:ea typeface="IBM Plex Sans" pitchFamily="34" charset="-122"/>
                <a:cs typeface="IBM Plex Sans" pitchFamily="34" charset="-120"/>
              </a:rPr>
              <a:t>Likert scale</a:t>
            </a:r>
            <a:endParaRPr lang="en-US" sz="1400" dirty="0">
              <a:latin typeface="+mj-lt"/>
            </a:endParaRPr>
          </a:p>
        </p:txBody>
      </p:sp>
      <p:sp>
        <p:nvSpPr>
          <p:cNvPr id="12" name="Text 10"/>
          <p:cNvSpPr/>
          <p:nvPr/>
        </p:nvSpPr>
        <p:spPr>
          <a:xfrm>
            <a:off x="5274320" y="2287191"/>
            <a:ext cx="1694160"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7"/>
                </a:solidFill>
                <a:latin typeface="+mj-lt"/>
                <a:ea typeface="IBM Plex Sans" pitchFamily="34" charset="-122"/>
                <a:cs typeface="IBM Plex Sans" pitchFamily="34" charset="-120"/>
              </a:rPr>
              <a:t>"AI tools help me learn." Strongly disagree → Strongly agree</a:t>
            </a:r>
            <a:endParaRPr lang="en-US" sz="1200" dirty="0">
              <a:latin typeface="+mj-lt"/>
            </a:endParaRPr>
          </a:p>
        </p:txBody>
      </p:sp>
      <p:sp>
        <p:nvSpPr>
          <p:cNvPr id="13" name="Shape 11"/>
          <p:cNvSpPr/>
          <p:nvPr/>
        </p:nvSpPr>
        <p:spPr>
          <a:xfrm>
            <a:off x="7232005" y="1806525"/>
            <a:ext cx="2005360" cy="1514921"/>
          </a:xfrm>
          <a:prstGeom prst="roundRect">
            <a:avLst>
              <a:gd name="adj" fmla="val 6497"/>
            </a:avLst>
          </a:prstGeom>
          <a:solidFill>
            <a:srgbClr val="FFFDF8"/>
          </a:solidFill>
          <a:ln w="6350">
            <a:solidFill>
              <a:srgbClr val="DDD7C9"/>
            </a:solidFill>
            <a:prstDash val="solid"/>
          </a:ln>
        </p:spPr>
      </p:sp>
      <p:sp>
        <p:nvSpPr>
          <p:cNvPr id="14" name="Text 12"/>
          <p:cNvSpPr/>
          <p:nvPr/>
        </p:nvSpPr>
        <p:spPr>
          <a:xfrm>
            <a:off x="7412980" y="1987500"/>
            <a:ext cx="169421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A3A"/>
                </a:solidFill>
                <a:latin typeface="+mj-lt"/>
                <a:ea typeface="IBM Plex Sans" pitchFamily="34" charset="-122"/>
                <a:cs typeface="IBM Plex Sans" pitchFamily="34" charset="-120"/>
              </a:rPr>
              <a:t>Rating / ranking</a:t>
            </a:r>
            <a:endParaRPr lang="en-US" sz="1400" dirty="0">
              <a:latin typeface="+mj-lt"/>
            </a:endParaRPr>
          </a:p>
        </p:txBody>
      </p:sp>
      <p:sp>
        <p:nvSpPr>
          <p:cNvPr id="15" name="Text 13"/>
          <p:cNvSpPr/>
          <p:nvPr/>
        </p:nvSpPr>
        <p:spPr>
          <a:xfrm>
            <a:off x="7412980" y="2287191"/>
            <a:ext cx="169421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7"/>
                </a:solidFill>
                <a:latin typeface="+mj-lt"/>
                <a:ea typeface="IBM Plex Sans" pitchFamily="34" charset="-122"/>
                <a:cs typeface="IBM Plex Sans" pitchFamily="34" charset="-120"/>
              </a:rPr>
              <a:t>"Rate the course from 1 to 10" or put options in order</a:t>
            </a:r>
            <a:endParaRPr lang="en-US" sz="1200" dirty="0">
              <a:latin typeface="+mj-lt"/>
            </a:endParaRPr>
          </a:p>
        </p:txBody>
      </p:sp>
      <p:sp>
        <p:nvSpPr>
          <p:cNvPr id="16" name="Shape 14"/>
          <p:cNvSpPr/>
          <p:nvPr/>
        </p:nvSpPr>
        <p:spPr>
          <a:xfrm>
            <a:off x="9370715" y="1806525"/>
            <a:ext cx="2005310" cy="1514921"/>
          </a:xfrm>
          <a:prstGeom prst="roundRect">
            <a:avLst>
              <a:gd name="adj" fmla="val 6497"/>
            </a:avLst>
          </a:prstGeom>
          <a:solidFill>
            <a:srgbClr val="FFFDF8"/>
          </a:solidFill>
          <a:ln w="6350">
            <a:solidFill>
              <a:srgbClr val="DDD7C9"/>
            </a:solidFill>
            <a:prstDash val="solid"/>
          </a:ln>
        </p:spPr>
      </p:sp>
      <p:sp>
        <p:nvSpPr>
          <p:cNvPr id="17" name="Text 15"/>
          <p:cNvSpPr/>
          <p:nvPr/>
        </p:nvSpPr>
        <p:spPr>
          <a:xfrm>
            <a:off x="9551690" y="1987500"/>
            <a:ext cx="169416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A3A"/>
                </a:solidFill>
                <a:latin typeface="+mj-lt"/>
                <a:ea typeface="IBM Plex Sans" pitchFamily="34" charset="-122"/>
                <a:cs typeface="IBM Plex Sans" pitchFamily="34" charset="-120"/>
              </a:rPr>
              <a:t>Open-ended</a:t>
            </a:r>
            <a:endParaRPr lang="en-US" sz="1400" dirty="0">
              <a:latin typeface="+mj-lt"/>
            </a:endParaRPr>
          </a:p>
        </p:txBody>
      </p:sp>
      <p:sp>
        <p:nvSpPr>
          <p:cNvPr id="18" name="Text 16"/>
          <p:cNvSpPr/>
          <p:nvPr/>
        </p:nvSpPr>
        <p:spPr>
          <a:xfrm>
            <a:off x="9551690" y="2287191"/>
            <a:ext cx="16941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7"/>
                </a:solidFill>
                <a:latin typeface="+mj-lt"/>
                <a:ea typeface="IBM Plex Sans" pitchFamily="34" charset="-122"/>
                <a:cs typeface="IBM Plex Sans" pitchFamily="34" charset="-120"/>
              </a:rPr>
              <a:t>"What worries you most about AI in education?"</a:t>
            </a:r>
            <a:endParaRPr lang="en-US" sz="1200" dirty="0">
              <a:latin typeface="+mj-lt"/>
            </a:endParaRPr>
          </a:p>
        </p:txBody>
      </p:sp>
      <p:sp>
        <p:nvSpPr>
          <p:cNvPr id="19" name="Shape 17"/>
          <p:cNvSpPr/>
          <p:nvPr/>
        </p:nvSpPr>
        <p:spPr>
          <a:xfrm>
            <a:off x="812800" y="3553222"/>
            <a:ext cx="5207000" cy="1882080"/>
          </a:xfrm>
          <a:prstGeom prst="roundRect">
            <a:avLst>
              <a:gd name="adj" fmla="val 5398"/>
            </a:avLst>
          </a:prstGeom>
          <a:solidFill>
            <a:srgbClr val="E3EDE8"/>
          </a:solidFill>
          <a:ln/>
        </p:spPr>
      </p:sp>
      <p:sp>
        <p:nvSpPr>
          <p:cNvPr id="20" name="Text 18"/>
          <p:cNvSpPr/>
          <p:nvPr/>
        </p:nvSpPr>
        <p:spPr>
          <a:xfrm>
            <a:off x="1016000" y="3756422"/>
            <a:ext cx="4944618"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4D3A"/>
                </a:solidFill>
                <a:latin typeface="+mj-lt"/>
                <a:ea typeface="IBM Plex Sans" pitchFamily="34" charset="-122"/>
                <a:cs typeface="IBM Plex Sans" pitchFamily="34" charset="-120"/>
              </a:rPr>
              <a:t>Do</a:t>
            </a:r>
            <a:endParaRPr lang="en-US" sz="1600" dirty="0">
              <a:latin typeface="+mj-lt"/>
            </a:endParaRPr>
          </a:p>
        </p:txBody>
      </p:sp>
      <p:sp>
        <p:nvSpPr>
          <p:cNvPr id="21" name="Text 19"/>
          <p:cNvSpPr/>
          <p:nvPr/>
        </p:nvSpPr>
        <p:spPr>
          <a:xfrm>
            <a:off x="1101344" y="4076452"/>
            <a:ext cx="4851654" cy="1181050"/>
          </a:xfrm>
          <a:prstGeom prst="rect">
            <a:avLst/>
          </a:prstGeom>
          <a:noFill/>
          <a:ln/>
        </p:spPr>
        <p:txBody>
          <a:bodyPr wrap="square" lIns="0" tIns="0" rIns="0" bIns="0" rtlCol="0" anchor="t">
            <a:normAutofit/>
          </a:bodyPr>
          <a:lstStyle/>
          <a:p>
            <a:pPr marL="168656" indent="-168656" algn="l">
              <a:lnSpc>
                <a:spcPts val="1820"/>
              </a:lnSpc>
              <a:buSzPct val="100000"/>
              <a:buChar char="•"/>
            </a:pPr>
            <a:r>
              <a:rPr lang="en-US" sz="1300" dirty="0">
                <a:solidFill>
                  <a:srgbClr val="24343F"/>
                </a:solidFill>
                <a:latin typeface="+mj-lt"/>
                <a:ea typeface="IBM Plex Sans" pitchFamily="34" charset="-122"/>
                <a:cs typeface="IBM Plex Sans" pitchFamily="34" charset="-120"/>
              </a:rPr>
              <a:t>Use simple, familiar words</a:t>
            </a:r>
            <a:endParaRPr lang="en-US" sz="1300" dirty="0">
              <a:latin typeface="+mj-lt"/>
            </a:endParaRPr>
          </a:p>
          <a:p>
            <a:pPr marL="168656" indent="-168656" algn="l">
              <a:lnSpc>
                <a:spcPts val="1820"/>
              </a:lnSpc>
              <a:buSzPct val="100000"/>
              <a:buChar char="•"/>
            </a:pPr>
            <a:r>
              <a:rPr lang="en-US" sz="1300" dirty="0">
                <a:solidFill>
                  <a:srgbClr val="24343F"/>
                </a:solidFill>
                <a:latin typeface="+mj-lt"/>
                <a:ea typeface="IBM Plex Sans" pitchFamily="34" charset="-122"/>
                <a:cs typeface="IBM Plex Sans" pitchFamily="34" charset="-120"/>
              </a:rPr>
              <a:t>Ask about one thing per question</a:t>
            </a:r>
            <a:endParaRPr lang="en-US" sz="1300" dirty="0">
              <a:latin typeface="+mj-lt"/>
            </a:endParaRPr>
          </a:p>
          <a:p>
            <a:pPr marL="168656" indent="-168656" algn="l">
              <a:lnSpc>
                <a:spcPts val="1820"/>
              </a:lnSpc>
              <a:buSzPct val="100000"/>
              <a:buChar char="•"/>
            </a:pPr>
            <a:r>
              <a:rPr lang="en-US" sz="1300" dirty="0">
                <a:solidFill>
                  <a:srgbClr val="24343F"/>
                </a:solidFill>
                <a:latin typeface="+mj-lt"/>
                <a:ea typeface="IBM Plex Sans" pitchFamily="34" charset="-122"/>
                <a:cs typeface="IBM Plex Sans" pitchFamily="34" charset="-120"/>
              </a:rPr>
              <a:t>Keep questions short and neutral</a:t>
            </a:r>
            <a:endParaRPr lang="en-US" sz="1300" dirty="0">
              <a:latin typeface="+mj-lt"/>
            </a:endParaRPr>
          </a:p>
          <a:p>
            <a:pPr marL="168656" indent="-168656" algn="l">
              <a:lnSpc>
                <a:spcPts val="1820"/>
              </a:lnSpc>
              <a:buSzPct val="100000"/>
              <a:buChar char="•"/>
            </a:pPr>
            <a:r>
              <a:rPr lang="en-US" sz="1300" dirty="0">
                <a:solidFill>
                  <a:srgbClr val="24343F"/>
                </a:solidFill>
                <a:latin typeface="+mj-lt"/>
                <a:ea typeface="IBM Plex Sans" pitchFamily="34" charset="-122"/>
                <a:cs typeface="IBM Plex Sans" pitchFamily="34" charset="-120"/>
              </a:rPr>
              <a:t>Give balanced, complete answer options</a:t>
            </a:r>
            <a:endParaRPr lang="en-US" sz="1300" dirty="0">
              <a:latin typeface="+mj-lt"/>
            </a:endParaRPr>
          </a:p>
          <a:p>
            <a:pPr marL="168656" indent="-168656" algn="l">
              <a:lnSpc>
                <a:spcPts val="1820"/>
              </a:lnSpc>
              <a:buSzPct val="100000"/>
              <a:buChar char="•"/>
            </a:pPr>
            <a:r>
              <a:rPr lang="en-US" sz="1300" dirty="0">
                <a:solidFill>
                  <a:srgbClr val="24343F"/>
                </a:solidFill>
                <a:latin typeface="+mj-lt"/>
                <a:ea typeface="IBM Plex Sans" pitchFamily="34" charset="-122"/>
                <a:cs typeface="IBM Plex Sans" pitchFamily="34" charset="-120"/>
              </a:rPr>
              <a:t>Add "Don't know / Not applicable" where needed</a:t>
            </a:r>
            <a:endParaRPr lang="en-US" sz="1300" dirty="0">
              <a:latin typeface="+mj-lt"/>
            </a:endParaRPr>
          </a:p>
        </p:txBody>
      </p:sp>
      <p:sp>
        <p:nvSpPr>
          <p:cNvPr id="22" name="Shape 20"/>
          <p:cNvSpPr/>
          <p:nvPr/>
        </p:nvSpPr>
        <p:spPr>
          <a:xfrm>
            <a:off x="6172200" y="3553222"/>
            <a:ext cx="5207000" cy="1882080"/>
          </a:xfrm>
          <a:prstGeom prst="roundRect">
            <a:avLst>
              <a:gd name="adj" fmla="val 5398"/>
            </a:avLst>
          </a:prstGeom>
          <a:solidFill>
            <a:srgbClr val="F5E3D8"/>
          </a:solidFill>
          <a:ln/>
        </p:spPr>
      </p:sp>
      <p:sp>
        <p:nvSpPr>
          <p:cNvPr id="23" name="Text 21"/>
          <p:cNvSpPr/>
          <p:nvPr/>
        </p:nvSpPr>
        <p:spPr>
          <a:xfrm>
            <a:off x="6375400" y="3756422"/>
            <a:ext cx="4944618"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8A3A0C"/>
                </a:solidFill>
                <a:latin typeface="+mj-lt"/>
                <a:ea typeface="IBM Plex Sans" pitchFamily="34" charset="-122"/>
                <a:cs typeface="IBM Plex Sans" pitchFamily="34" charset="-120"/>
              </a:rPr>
              <a:t>Avoid</a:t>
            </a:r>
            <a:endParaRPr lang="en-US" sz="1600" dirty="0">
              <a:latin typeface="+mj-lt"/>
            </a:endParaRPr>
          </a:p>
        </p:txBody>
      </p:sp>
      <p:sp>
        <p:nvSpPr>
          <p:cNvPr id="24" name="Text 22"/>
          <p:cNvSpPr/>
          <p:nvPr/>
        </p:nvSpPr>
        <p:spPr>
          <a:xfrm>
            <a:off x="6460744" y="4076452"/>
            <a:ext cx="4851654" cy="1181050"/>
          </a:xfrm>
          <a:prstGeom prst="rect">
            <a:avLst/>
          </a:prstGeom>
          <a:noFill/>
          <a:ln/>
        </p:spPr>
        <p:txBody>
          <a:bodyPr wrap="square" lIns="0" tIns="0" rIns="0" bIns="0" rtlCol="0" anchor="t">
            <a:normAutofit/>
          </a:bodyPr>
          <a:lstStyle/>
          <a:p>
            <a:pPr marL="168656" indent="-168656" algn="l">
              <a:lnSpc>
                <a:spcPts val="1820"/>
              </a:lnSpc>
              <a:buSzPct val="100000"/>
              <a:buChar char="•"/>
            </a:pPr>
            <a:r>
              <a:rPr lang="en-US" sz="1300" dirty="0">
                <a:solidFill>
                  <a:srgbClr val="24343F"/>
                </a:solidFill>
                <a:latin typeface="+mj-lt"/>
                <a:ea typeface="IBM Plex Sans" pitchFamily="34" charset="-122"/>
                <a:cs typeface="IBM Plex Sans" pitchFamily="34" charset="-120"/>
              </a:rPr>
              <a:t>Leading: "Don't you agree that…?"</a:t>
            </a:r>
            <a:endParaRPr lang="en-US" sz="1300" dirty="0">
              <a:latin typeface="+mj-lt"/>
            </a:endParaRPr>
          </a:p>
          <a:p>
            <a:pPr marL="168656" indent="-168656" algn="l">
              <a:lnSpc>
                <a:spcPts val="1820"/>
              </a:lnSpc>
              <a:buSzPct val="100000"/>
              <a:buChar char="•"/>
            </a:pPr>
            <a:r>
              <a:rPr lang="en-US" sz="1300" dirty="0">
                <a:solidFill>
                  <a:srgbClr val="24343F"/>
                </a:solidFill>
                <a:latin typeface="+mj-lt"/>
                <a:ea typeface="IBM Plex Sans" pitchFamily="34" charset="-122"/>
                <a:cs typeface="IBM Plex Sans" pitchFamily="34" charset="-120"/>
              </a:rPr>
              <a:t>Double-barrelled: "useful </a:t>
            </a:r>
            <a:r>
              <a:rPr lang="en-US" sz="1300" i="1" dirty="0">
                <a:solidFill>
                  <a:srgbClr val="24343F"/>
                </a:solidFill>
                <a:latin typeface="+mj-lt"/>
                <a:ea typeface="IBM Plex Sans" pitchFamily="34" charset="-122"/>
                <a:cs typeface="IBM Plex Sans" pitchFamily="34" charset="-120"/>
              </a:rPr>
              <a:t>and</a:t>
            </a:r>
            <a:r>
              <a:rPr lang="en-US" sz="1300" dirty="0">
                <a:solidFill>
                  <a:srgbClr val="24343F"/>
                </a:solidFill>
                <a:latin typeface="+mj-lt"/>
                <a:ea typeface="IBM Plex Sans" pitchFamily="34" charset="-122"/>
                <a:cs typeface="IBM Plex Sans" pitchFamily="34" charset="-120"/>
              </a:rPr>
              <a:t> interesting?"</a:t>
            </a:r>
            <a:endParaRPr lang="en-US" sz="1300" dirty="0">
              <a:latin typeface="+mj-lt"/>
            </a:endParaRPr>
          </a:p>
          <a:p>
            <a:pPr marL="168656" indent="-168656" algn="l">
              <a:lnSpc>
                <a:spcPts val="1820"/>
              </a:lnSpc>
              <a:buSzPct val="100000"/>
              <a:buChar char="•"/>
            </a:pPr>
            <a:r>
              <a:rPr lang="en-US" sz="1300" dirty="0">
                <a:solidFill>
                  <a:srgbClr val="24343F"/>
                </a:solidFill>
                <a:latin typeface="+mj-lt"/>
                <a:ea typeface="IBM Plex Sans" pitchFamily="34" charset="-122"/>
                <a:cs typeface="IBM Plex Sans" pitchFamily="34" charset="-120"/>
              </a:rPr>
              <a:t>Jargon and abbreviations</a:t>
            </a:r>
            <a:endParaRPr lang="en-US" sz="1300" dirty="0">
              <a:latin typeface="+mj-lt"/>
            </a:endParaRPr>
          </a:p>
          <a:p>
            <a:pPr marL="168656" indent="-168656" algn="l">
              <a:lnSpc>
                <a:spcPts val="1820"/>
              </a:lnSpc>
              <a:buSzPct val="100000"/>
              <a:buChar char="•"/>
            </a:pPr>
            <a:r>
              <a:rPr lang="en-US" sz="1300" dirty="0">
                <a:solidFill>
                  <a:srgbClr val="24343F"/>
                </a:solidFill>
                <a:latin typeface="+mj-lt"/>
                <a:ea typeface="IBM Plex Sans" pitchFamily="34" charset="-122"/>
                <a:cs typeface="IBM Plex Sans" pitchFamily="34" charset="-120"/>
              </a:rPr>
              <a:t>Vague terms: "often", "recently"</a:t>
            </a:r>
            <a:endParaRPr lang="en-US" sz="1300" dirty="0">
              <a:latin typeface="+mj-lt"/>
            </a:endParaRPr>
          </a:p>
          <a:p>
            <a:pPr marL="168656" indent="-168656" algn="l">
              <a:lnSpc>
                <a:spcPts val="1820"/>
              </a:lnSpc>
              <a:buSzPct val="100000"/>
              <a:buChar char="•"/>
            </a:pPr>
            <a:r>
              <a:rPr lang="en-US" sz="1300" dirty="0">
                <a:solidFill>
                  <a:srgbClr val="24343F"/>
                </a:solidFill>
                <a:latin typeface="+mj-lt"/>
                <a:ea typeface="IBM Plex Sans" pitchFamily="34" charset="-122"/>
                <a:cs typeface="IBM Plex Sans" pitchFamily="34" charset="-120"/>
              </a:rPr>
              <a:t>Negatives and double negatives</a:t>
            </a:r>
            <a:endParaRPr lang="en-US" sz="1300" dirty="0">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E8D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60F"/>
                </a:solidFill>
                <a:latin typeface="+mj-lt"/>
                <a:ea typeface="IBM Plex Sans" pitchFamily="34" charset="-122"/>
                <a:cs typeface="IBM Plex Sans" pitchFamily="34" charset="-120"/>
              </a:rPr>
              <a:t>STEP 3 · STRUCTURE AND MODE</a:t>
            </a:r>
            <a:endParaRPr lang="en-US" sz="1200" dirty="0">
              <a:latin typeface="+mj-lt"/>
            </a:endParaRPr>
          </a:p>
        </p:txBody>
      </p:sp>
      <p:sp>
        <p:nvSpPr>
          <p:cNvPr id="3" name="Text 1"/>
          <p:cNvSpPr>
            <a:spLocks noGrp="1"/>
          </p:cNvSpPr>
          <p:nvPr>
            <p:ph type="title"/>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A3A"/>
                </a:solidFill>
                <a:latin typeface="+mj-lt"/>
                <a:ea typeface="Source Serif 4" pitchFamily="18" charset="-122"/>
                <a:cs typeface="Source Serif 4" pitchFamily="18" charset="-120"/>
              </a:rPr>
              <a:t>Structure, order and survey mode</a:t>
            </a:r>
            <a:endParaRPr lang="en-US" sz="3200" dirty="0">
              <a:latin typeface="+mj-lt"/>
            </a:endParaRPr>
          </a:p>
        </p:txBody>
      </p:sp>
      <p:sp>
        <p:nvSpPr>
          <p:cNvPr id="4" name="Shape 2"/>
          <p:cNvSpPr/>
          <p:nvPr/>
        </p:nvSpPr>
        <p:spPr>
          <a:xfrm>
            <a:off x="812800" y="1879550"/>
            <a:ext cx="6096000" cy="401290"/>
          </a:xfrm>
          <a:prstGeom prst="roundRect">
            <a:avLst>
              <a:gd name="adj" fmla="val 18989"/>
            </a:avLst>
          </a:prstGeom>
          <a:solidFill>
            <a:srgbClr val="FFFDF8"/>
          </a:solidFill>
          <a:ln/>
        </p:spPr>
      </p:sp>
      <p:sp>
        <p:nvSpPr>
          <p:cNvPr id="5" name="Text 3"/>
          <p:cNvSpPr/>
          <p:nvPr/>
        </p:nvSpPr>
        <p:spPr>
          <a:xfrm>
            <a:off x="939800" y="1955750"/>
            <a:ext cx="33020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460F"/>
                </a:solidFill>
                <a:latin typeface="+mj-lt"/>
                <a:ea typeface="Source Serif 4" pitchFamily="18" charset="-122"/>
                <a:cs typeface="Source Serif 4" pitchFamily="18" charset="-120"/>
              </a:rPr>
              <a:t>1</a:t>
            </a:r>
            <a:endParaRPr lang="en-US" sz="1400" dirty="0">
              <a:latin typeface="+mj-lt"/>
            </a:endParaRPr>
          </a:p>
        </p:txBody>
      </p:sp>
      <p:sp>
        <p:nvSpPr>
          <p:cNvPr id="6" name="Text 4"/>
          <p:cNvSpPr/>
          <p:nvPr/>
        </p:nvSpPr>
        <p:spPr>
          <a:xfrm>
            <a:off x="1346200" y="1955750"/>
            <a:ext cx="209296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A3A"/>
                </a:solidFill>
                <a:latin typeface="+mj-lt"/>
                <a:ea typeface="IBM Plex Sans" pitchFamily="34" charset="-122"/>
                <a:cs typeface="IBM Plex Sans" pitchFamily="34" charset="-120"/>
              </a:rPr>
              <a:t>Cover letter</a:t>
            </a:r>
            <a:endParaRPr lang="en-US" sz="1400" dirty="0">
              <a:latin typeface="+mj-lt"/>
            </a:endParaRPr>
          </a:p>
        </p:txBody>
      </p:sp>
      <p:sp>
        <p:nvSpPr>
          <p:cNvPr id="7" name="Text 5"/>
          <p:cNvSpPr/>
          <p:nvPr/>
        </p:nvSpPr>
        <p:spPr>
          <a:xfrm>
            <a:off x="3505200" y="1973511"/>
            <a:ext cx="337489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7"/>
                </a:solidFill>
                <a:latin typeface="+mj-lt"/>
                <a:ea typeface="IBM Plex Sans" pitchFamily="34" charset="-122"/>
                <a:cs typeface="IBM Plex Sans" pitchFamily="34" charset="-120"/>
              </a:rPr>
              <a:t>Purpose, time needed, consent</a:t>
            </a:r>
            <a:endParaRPr lang="en-US" sz="1200" dirty="0">
              <a:latin typeface="+mj-lt"/>
            </a:endParaRPr>
          </a:p>
        </p:txBody>
      </p:sp>
      <p:sp>
        <p:nvSpPr>
          <p:cNvPr id="8" name="Shape 6"/>
          <p:cNvSpPr/>
          <p:nvPr/>
        </p:nvSpPr>
        <p:spPr>
          <a:xfrm>
            <a:off x="812800" y="2331641"/>
            <a:ext cx="6096000" cy="401290"/>
          </a:xfrm>
          <a:prstGeom prst="roundRect">
            <a:avLst>
              <a:gd name="adj" fmla="val 18989"/>
            </a:avLst>
          </a:prstGeom>
          <a:solidFill>
            <a:srgbClr val="FFFDF8"/>
          </a:solidFill>
          <a:ln/>
        </p:spPr>
      </p:sp>
      <p:sp>
        <p:nvSpPr>
          <p:cNvPr id="9" name="Text 7"/>
          <p:cNvSpPr/>
          <p:nvPr/>
        </p:nvSpPr>
        <p:spPr>
          <a:xfrm>
            <a:off x="939800" y="2407841"/>
            <a:ext cx="33020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460F"/>
                </a:solidFill>
                <a:latin typeface="+mj-lt"/>
                <a:ea typeface="Source Serif 4" pitchFamily="18" charset="-122"/>
                <a:cs typeface="Source Serif 4" pitchFamily="18" charset="-120"/>
              </a:rPr>
              <a:t>2</a:t>
            </a:r>
            <a:endParaRPr lang="en-US" sz="1400" dirty="0">
              <a:latin typeface="+mj-lt"/>
            </a:endParaRPr>
          </a:p>
        </p:txBody>
      </p:sp>
      <p:sp>
        <p:nvSpPr>
          <p:cNvPr id="10" name="Text 8"/>
          <p:cNvSpPr/>
          <p:nvPr/>
        </p:nvSpPr>
        <p:spPr>
          <a:xfrm>
            <a:off x="1346200" y="2407841"/>
            <a:ext cx="209296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A3A"/>
                </a:solidFill>
                <a:latin typeface="+mj-lt"/>
                <a:ea typeface="IBM Plex Sans" pitchFamily="34" charset="-122"/>
                <a:cs typeface="IBM Plex Sans" pitchFamily="34" charset="-120"/>
              </a:rPr>
              <a:t>Screening</a:t>
            </a:r>
            <a:endParaRPr lang="en-US" sz="1400" dirty="0">
              <a:latin typeface="+mj-lt"/>
            </a:endParaRPr>
          </a:p>
        </p:txBody>
      </p:sp>
      <p:sp>
        <p:nvSpPr>
          <p:cNvPr id="11" name="Text 9"/>
          <p:cNvSpPr/>
          <p:nvPr/>
        </p:nvSpPr>
        <p:spPr>
          <a:xfrm>
            <a:off x="3505200" y="2425601"/>
            <a:ext cx="337489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7"/>
                </a:solidFill>
                <a:latin typeface="+mj-lt"/>
                <a:ea typeface="IBM Plex Sans" pitchFamily="34" charset="-122"/>
                <a:cs typeface="IBM Plex Sans" pitchFamily="34" charset="-120"/>
              </a:rPr>
              <a:t>Check the person is eligible</a:t>
            </a:r>
            <a:endParaRPr lang="en-US" sz="1200" dirty="0">
              <a:latin typeface="+mj-lt"/>
            </a:endParaRPr>
          </a:p>
        </p:txBody>
      </p:sp>
      <p:sp>
        <p:nvSpPr>
          <p:cNvPr id="12" name="Shape 10"/>
          <p:cNvSpPr/>
          <p:nvPr/>
        </p:nvSpPr>
        <p:spPr>
          <a:xfrm>
            <a:off x="812800" y="2783731"/>
            <a:ext cx="6096000" cy="401290"/>
          </a:xfrm>
          <a:prstGeom prst="roundRect">
            <a:avLst>
              <a:gd name="adj" fmla="val 18989"/>
            </a:avLst>
          </a:prstGeom>
          <a:solidFill>
            <a:srgbClr val="FFFDF8"/>
          </a:solidFill>
          <a:ln/>
        </p:spPr>
      </p:sp>
      <p:sp>
        <p:nvSpPr>
          <p:cNvPr id="13" name="Text 11"/>
          <p:cNvSpPr/>
          <p:nvPr/>
        </p:nvSpPr>
        <p:spPr>
          <a:xfrm>
            <a:off x="939800" y="2859931"/>
            <a:ext cx="33020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460F"/>
                </a:solidFill>
                <a:latin typeface="+mj-lt"/>
                <a:ea typeface="Source Serif 4" pitchFamily="18" charset="-122"/>
                <a:cs typeface="Source Serif 4" pitchFamily="18" charset="-120"/>
              </a:rPr>
              <a:t>3</a:t>
            </a:r>
            <a:endParaRPr lang="en-US" sz="1400" dirty="0">
              <a:latin typeface="+mj-lt"/>
            </a:endParaRPr>
          </a:p>
        </p:txBody>
      </p:sp>
      <p:sp>
        <p:nvSpPr>
          <p:cNvPr id="14" name="Text 12"/>
          <p:cNvSpPr/>
          <p:nvPr/>
        </p:nvSpPr>
        <p:spPr>
          <a:xfrm>
            <a:off x="1346200" y="2859931"/>
            <a:ext cx="209296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A3A"/>
                </a:solidFill>
                <a:latin typeface="+mj-lt"/>
                <a:ea typeface="IBM Plex Sans" pitchFamily="34" charset="-122"/>
                <a:cs typeface="IBM Plex Sans" pitchFamily="34" charset="-120"/>
              </a:rPr>
              <a:t>Easy questions</a:t>
            </a:r>
            <a:endParaRPr lang="en-US" sz="1400" dirty="0">
              <a:latin typeface="+mj-lt"/>
            </a:endParaRPr>
          </a:p>
        </p:txBody>
      </p:sp>
      <p:sp>
        <p:nvSpPr>
          <p:cNvPr id="15" name="Text 13"/>
          <p:cNvSpPr/>
          <p:nvPr/>
        </p:nvSpPr>
        <p:spPr>
          <a:xfrm>
            <a:off x="3505200" y="2877691"/>
            <a:ext cx="337489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7"/>
                </a:solidFill>
                <a:latin typeface="+mj-lt"/>
                <a:ea typeface="IBM Plex Sans" pitchFamily="34" charset="-122"/>
                <a:cs typeface="IBM Plex Sans" pitchFamily="34" charset="-120"/>
              </a:rPr>
              <a:t>General and interesting, to build engagement</a:t>
            </a:r>
            <a:endParaRPr lang="en-US" sz="1200" dirty="0">
              <a:latin typeface="+mj-lt"/>
            </a:endParaRPr>
          </a:p>
        </p:txBody>
      </p:sp>
      <p:sp>
        <p:nvSpPr>
          <p:cNvPr id="16" name="Shape 14"/>
          <p:cNvSpPr/>
          <p:nvPr/>
        </p:nvSpPr>
        <p:spPr>
          <a:xfrm>
            <a:off x="812800" y="3235821"/>
            <a:ext cx="6096000" cy="401290"/>
          </a:xfrm>
          <a:prstGeom prst="roundRect">
            <a:avLst>
              <a:gd name="adj" fmla="val 18989"/>
            </a:avLst>
          </a:prstGeom>
          <a:solidFill>
            <a:srgbClr val="FFFDF8"/>
          </a:solidFill>
          <a:ln/>
        </p:spPr>
      </p:sp>
      <p:sp>
        <p:nvSpPr>
          <p:cNvPr id="17" name="Text 15"/>
          <p:cNvSpPr/>
          <p:nvPr/>
        </p:nvSpPr>
        <p:spPr>
          <a:xfrm>
            <a:off x="939800" y="3312021"/>
            <a:ext cx="33020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460F"/>
                </a:solidFill>
                <a:latin typeface="+mj-lt"/>
                <a:ea typeface="Source Serif 4" pitchFamily="18" charset="-122"/>
                <a:cs typeface="Source Serif 4" pitchFamily="18" charset="-120"/>
              </a:rPr>
              <a:t>4</a:t>
            </a:r>
            <a:endParaRPr lang="en-US" sz="1400" dirty="0">
              <a:latin typeface="+mj-lt"/>
            </a:endParaRPr>
          </a:p>
        </p:txBody>
      </p:sp>
      <p:sp>
        <p:nvSpPr>
          <p:cNvPr id="18" name="Text 16"/>
          <p:cNvSpPr/>
          <p:nvPr/>
        </p:nvSpPr>
        <p:spPr>
          <a:xfrm>
            <a:off x="1346200" y="3312021"/>
            <a:ext cx="209296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A3A"/>
                </a:solidFill>
                <a:latin typeface="+mj-lt"/>
                <a:ea typeface="IBM Plex Sans" pitchFamily="34" charset="-122"/>
                <a:cs typeface="IBM Plex Sans" pitchFamily="34" charset="-120"/>
              </a:rPr>
              <a:t>Core questions</a:t>
            </a:r>
            <a:endParaRPr lang="en-US" sz="1400" dirty="0">
              <a:latin typeface="+mj-lt"/>
            </a:endParaRPr>
          </a:p>
        </p:txBody>
      </p:sp>
      <p:sp>
        <p:nvSpPr>
          <p:cNvPr id="19" name="Text 17"/>
          <p:cNvSpPr/>
          <p:nvPr/>
        </p:nvSpPr>
        <p:spPr>
          <a:xfrm>
            <a:off x="3505200" y="3329781"/>
            <a:ext cx="337489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7"/>
                </a:solidFill>
                <a:latin typeface="+mj-lt"/>
                <a:ea typeface="IBM Plex Sans" pitchFamily="34" charset="-122"/>
                <a:cs typeface="IBM Plex Sans" pitchFamily="34" charset="-120"/>
              </a:rPr>
              <a:t>Grouped by topic or objective</a:t>
            </a:r>
            <a:endParaRPr lang="en-US" sz="1200" dirty="0">
              <a:latin typeface="+mj-lt"/>
            </a:endParaRPr>
          </a:p>
        </p:txBody>
      </p:sp>
      <p:sp>
        <p:nvSpPr>
          <p:cNvPr id="20" name="Shape 18"/>
          <p:cNvSpPr/>
          <p:nvPr/>
        </p:nvSpPr>
        <p:spPr>
          <a:xfrm>
            <a:off x="812800" y="3687911"/>
            <a:ext cx="6096000" cy="401290"/>
          </a:xfrm>
          <a:prstGeom prst="roundRect">
            <a:avLst>
              <a:gd name="adj" fmla="val 18989"/>
            </a:avLst>
          </a:prstGeom>
          <a:solidFill>
            <a:srgbClr val="FFFDF8"/>
          </a:solidFill>
          <a:ln/>
        </p:spPr>
      </p:sp>
      <p:sp>
        <p:nvSpPr>
          <p:cNvPr id="21" name="Text 19"/>
          <p:cNvSpPr/>
          <p:nvPr/>
        </p:nvSpPr>
        <p:spPr>
          <a:xfrm>
            <a:off x="939800" y="3764111"/>
            <a:ext cx="33020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460F"/>
                </a:solidFill>
                <a:latin typeface="+mj-lt"/>
                <a:ea typeface="Source Serif 4" pitchFamily="18" charset="-122"/>
                <a:cs typeface="Source Serif 4" pitchFamily="18" charset="-120"/>
              </a:rPr>
              <a:t>5</a:t>
            </a:r>
            <a:endParaRPr lang="en-US" sz="1400" dirty="0">
              <a:latin typeface="+mj-lt"/>
            </a:endParaRPr>
          </a:p>
        </p:txBody>
      </p:sp>
      <p:sp>
        <p:nvSpPr>
          <p:cNvPr id="22" name="Text 20"/>
          <p:cNvSpPr/>
          <p:nvPr/>
        </p:nvSpPr>
        <p:spPr>
          <a:xfrm>
            <a:off x="1346200" y="3764111"/>
            <a:ext cx="209296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A3A"/>
                </a:solidFill>
                <a:latin typeface="+mj-lt"/>
                <a:ea typeface="IBM Plex Sans" pitchFamily="34" charset="-122"/>
                <a:cs typeface="IBM Plex Sans" pitchFamily="34" charset="-120"/>
              </a:rPr>
              <a:t>Sensitive questions</a:t>
            </a:r>
            <a:endParaRPr lang="en-US" sz="1400" dirty="0">
              <a:latin typeface="+mj-lt"/>
            </a:endParaRPr>
          </a:p>
        </p:txBody>
      </p:sp>
      <p:sp>
        <p:nvSpPr>
          <p:cNvPr id="23" name="Text 21"/>
          <p:cNvSpPr/>
          <p:nvPr/>
        </p:nvSpPr>
        <p:spPr>
          <a:xfrm>
            <a:off x="3505200" y="3781871"/>
            <a:ext cx="337489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7"/>
                </a:solidFill>
                <a:latin typeface="+mj-lt"/>
                <a:ea typeface="IBM Plex Sans" pitchFamily="34" charset="-122"/>
                <a:cs typeface="IBM Plex Sans" pitchFamily="34" charset="-120"/>
              </a:rPr>
              <a:t>Later, once trust is built</a:t>
            </a:r>
            <a:endParaRPr lang="en-US" sz="1200" dirty="0">
              <a:latin typeface="+mj-lt"/>
            </a:endParaRPr>
          </a:p>
        </p:txBody>
      </p:sp>
      <p:sp>
        <p:nvSpPr>
          <p:cNvPr id="24" name="Shape 22"/>
          <p:cNvSpPr/>
          <p:nvPr/>
        </p:nvSpPr>
        <p:spPr>
          <a:xfrm>
            <a:off x="812800" y="4140002"/>
            <a:ext cx="6096000" cy="401290"/>
          </a:xfrm>
          <a:prstGeom prst="roundRect">
            <a:avLst>
              <a:gd name="adj" fmla="val 18989"/>
            </a:avLst>
          </a:prstGeom>
          <a:solidFill>
            <a:srgbClr val="FFFDF8"/>
          </a:solidFill>
          <a:ln/>
        </p:spPr>
      </p:sp>
      <p:sp>
        <p:nvSpPr>
          <p:cNvPr id="25" name="Text 23"/>
          <p:cNvSpPr/>
          <p:nvPr/>
        </p:nvSpPr>
        <p:spPr>
          <a:xfrm>
            <a:off x="939800" y="4216202"/>
            <a:ext cx="33020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460F"/>
                </a:solidFill>
                <a:latin typeface="+mj-lt"/>
                <a:ea typeface="Source Serif 4" pitchFamily="18" charset="-122"/>
                <a:cs typeface="Source Serif 4" pitchFamily="18" charset="-120"/>
              </a:rPr>
              <a:t>6</a:t>
            </a:r>
            <a:endParaRPr lang="en-US" sz="1400" dirty="0">
              <a:latin typeface="+mj-lt"/>
            </a:endParaRPr>
          </a:p>
        </p:txBody>
      </p:sp>
      <p:sp>
        <p:nvSpPr>
          <p:cNvPr id="26" name="Text 24"/>
          <p:cNvSpPr/>
          <p:nvPr/>
        </p:nvSpPr>
        <p:spPr>
          <a:xfrm>
            <a:off x="1346200" y="4216202"/>
            <a:ext cx="209296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A3A"/>
                </a:solidFill>
                <a:latin typeface="+mj-lt"/>
                <a:ea typeface="IBM Plex Sans" pitchFamily="34" charset="-122"/>
                <a:cs typeface="IBM Plex Sans" pitchFamily="34" charset="-120"/>
              </a:rPr>
              <a:t>Demographics</a:t>
            </a:r>
            <a:endParaRPr lang="en-US" sz="1400" dirty="0">
              <a:latin typeface="+mj-lt"/>
            </a:endParaRPr>
          </a:p>
        </p:txBody>
      </p:sp>
      <p:sp>
        <p:nvSpPr>
          <p:cNvPr id="27" name="Text 25"/>
          <p:cNvSpPr/>
          <p:nvPr/>
        </p:nvSpPr>
        <p:spPr>
          <a:xfrm>
            <a:off x="3505200" y="4233962"/>
            <a:ext cx="337489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7"/>
                </a:solidFill>
                <a:latin typeface="+mj-lt"/>
                <a:ea typeface="IBM Plex Sans" pitchFamily="34" charset="-122"/>
                <a:cs typeface="IBM Plex Sans" pitchFamily="34" charset="-120"/>
              </a:rPr>
              <a:t>Age, gender, education, and so on</a:t>
            </a:r>
            <a:endParaRPr lang="en-US" sz="1200" dirty="0">
              <a:latin typeface="+mj-lt"/>
            </a:endParaRPr>
          </a:p>
        </p:txBody>
      </p:sp>
      <p:sp>
        <p:nvSpPr>
          <p:cNvPr id="28" name="Shape 26"/>
          <p:cNvSpPr/>
          <p:nvPr/>
        </p:nvSpPr>
        <p:spPr>
          <a:xfrm>
            <a:off x="812800" y="4592092"/>
            <a:ext cx="6096000" cy="401290"/>
          </a:xfrm>
          <a:prstGeom prst="roundRect">
            <a:avLst>
              <a:gd name="adj" fmla="val 18989"/>
            </a:avLst>
          </a:prstGeom>
          <a:solidFill>
            <a:srgbClr val="FFFDF8"/>
          </a:solidFill>
          <a:ln/>
        </p:spPr>
      </p:sp>
      <p:sp>
        <p:nvSpPr>
          <p:cNvPr id="29" name="Text 27"/>
          <p:cNvSpPr/>
          <p:nvPr/>
        </p:nvSpPr>
        <p:spPr>
          <a:xfrm>
            <a:off x="939800" y="4668292"/>
            <a:ext cx="33020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460F"/>
                </a:solidFill>
                <a:latin typeface="+mj-lt"/>
                <a:ea typeface="Source Serif 4" pitchFamily="18" charset="-122"/>
                <a:cs typeface="Source Serif 4" pitchFamily="18" charset="-120"/>
              </a:rPr>
              <a:t>7</a:t>
            </a:r>
            <a:endParaRPr lang="en-US" sz="1400" dirty="0">
              <a:latin typeface="+mj-lt"/>
            </a:endParaRPr>
          </a:p>
        </p:txBody>
      </p:sp>
      <p:sp>
        <p:nvSpPr>
          <p:cNvPr id="30" name="Text 28"/>
          <p:cNvSpPr/>
          <p:nvPr/>
        </p:nvSpPr>
        <p:spPr>
          <a:xfrm>
            <a:off x="1346200" y="4668292"/>
            <a:ext cx="209296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A3A"/>
                </a:solidFill>
                <a:latin typeface="+mj-lt"/>
                <a:ea typeface="IBM Plex Sans" pitchFamily="34" charset="-122"/>
                <a:cs typeface="IBM Plex Sans" pitchFamily="34" charset="-120"/>
              </a:rPr>
              <a:t>Thank you</a:t>
            </a:r>
            <a:endParaRPr lang="en-US" sz="1400" dirty="0">
              <a:latin typeface="+mj-lt"/>
            </a:endParaRPr>
          </a:p>
        </p:txBody>
      </p:sp>
      <p:sp>
        <p:nvSpPr>
          <p:cNvPr id="31" name="Text 29"/>
          <p:cNvSpPr/>
          <p:nvPr/>
        </p:nvSpPr>
        <p:spPr>
          <a:xfrm>
            <a:off x="3505200" y="4686052"/>
            <a:ext cx="337489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7"/>
                </a:solidFill>
                <a:latin typeface="+mj-lt"/>
                <a:ea typeface="IBM Plex Sans" pitchFamily="34" charset="-122"/>
                <a:cs typeface="IBM Plex Sans" pitchFamily="34" charset="-120"/>
              </a:rPr>
              <a:t>Plus researcher contact details</a:t>
            </a:r>
            <a:endParaRPr lang="en-US" sz="1200" dirty="0">
              <a:latin typeface="+mj-lt"/>
            </a:endParaRPr>
          </a:p>
        </p:txBody>
      </p:sp>
      <p:sp>
        <p:nvSpPr>
          <p:cNvPr id="32" name="Text 30"/>
          <p:cNvSpPr/>
          <p:nvPr/>
        </p:nvSpPr>
        <p:spPr>
          <a:xfrm>
            <a:off x="7213600" y="1879550"/>
            <a:ext cx="4290568"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A3A"/>
                </a:solidFill>
                <a:latin typeface="+mj-lt"/>
                <a:ea typeface="IBM Plex Sans" pitchFamily="34" charset="-122"/>
                <a:cs typeface="IBM Plex Sans" pitchFamily="34" charset="-120"/>
              </a:rPr>
              <a:t>Choosing a mode</a:t>
            </a:r>
            <a:endParaRPr lang="en-US" sz="1600" dirty="0">
              <a:latin typeface="+mj-lt"/>
            </a:endParaRPr>
          </a:p>
        </p:txBody>
      </p:sp>
      <p:graphicFrame>
        <p:nvGraphicFramePr>
          <p:cNvPr id="33" name="Table 0"/>
          <p:cNvGraphicFramePr>
            <a:graphicFrameLocks noGrp="1"/>
          </p:cNvGraphicFramePr>
          <p:nvPr>
            <p:extLst>
              <p:ext uri="{D42A27DB-BD31-4B8C-83A1-F6EECF244321}">
                <p14:modId xmlns:p14="http://schemas.microsoft.com/office/powerpoint/2010/main" val="2822863230"/>
              </p:ext>
            </p:extLst>
          </p:nvPr>
        </p:nvGraphicFramePr>
        <p:xfrm>
          <a:off x="7226300" y="2237680"/>
          <a:ext cx="4152900" cy="2303363"/>
        </p:xfrm>
        <a:graphic>
          <a:graphicData uri="http://schemas.openxmlformats.org/drawingml/2006/table">
            <a:tbl>
              <a:tblPr/>
              <a:tblGrid>
                <a:gridCol w="1245870">
                  <a:extLst>
                    <a:ext uri="{9D8B030D-6E8A-4147-A177-3AD203B41FA5}">
                      <a16:colId xmlns:a16="http://schemas.microsoft.com/office/drawing/2014/main" val="20000"/>
                    </a:ext>
                  </a:extLst>
                </a:gridCol>
                <a:gridCol w="1453515">
                  <a:extLst>
                    <a:ext uri="{9D8B030D-6E8A-4147-A177-3AD203B41FA5}">
                      <a16:colId xmlns:a16="http://schemas.microsoft.com/office/drawing/2014/main" val="20001"/>
                    </a:ext>
                  </a:extLst>
                </a:gridCol>
                <a:gridCol w="1453515">
                  <a:extLst>
                    <a:ext uri="{9D8B030D-6E8A-4147-A177-3AD203B41FA5}">
                      <a16:colId xmlns:a16="http://schemas.microsoft.com/office/drawing/2014/main" val="20002"/>
                    </a:ext>
                  </a:extLst>
                </a:gridCol>
              </a:tblGrid>
              <a:tr h="332680">
                <a:tc>
                  <a:txBody>
                    <a:bodyPr/>
                    <a:lstStyle/>
                    <a:p>
                      <a:pPr marL="0" indent="0">
                        <a:lnSpc>
                          <a:spcPts val="1680"/>
                        </a:lnSpc>
                        <a:buNone/>
                      </a:pPr>
                      <a:r>
                        <a:rPr lang="en-US" sz="1200" b="1" dirty="0">
                          <a:solidFill>
                            <a:srgbClr val="F6F4EE"/>
                          </a:solidFill>
                          <a:latin typeface="+mj-lt"/>
                          <a:ea typeface="IBM Plex Sans" pitchFamily="34" charset="-122"/>
                          <a:cs typeface="IBM Plex Sans" pitchFamily="34" charset="-120"/>
                        </a:rPr>
                        <a:t>Mode</a:t>
                      </a:r>
                      <a:endParaRPr lang="en-US" sz="1200" dirty="0">
                        <a:latin typeface="+mj-lt"/>
                        <a:ea typeface="IBM Plex Sans" charset="0"/>
                        <a:cs typeface="IBM Plex Sans" charset="0"/>
                      </a:endParaRPr>
                    </a:p>
                  </a:txBody>
                  <a:tcPr marL="53340" marR="53340" marT="53340" marB="53340">
                    <a:lnL w="12700" cap="flat" cmpd="sng" algn="ctr">
                      <a:solidFill>
                        <a:srgbClr val="BCB9B1"/>
                      </a:solidFill>
                      <a:prstDash val="solid"/>
                      <a:round/>
                      <a:headEnd type="none" w="med" len="med"/>
                      <a:tailEnd type="none" w="med" len="med"/>
                    </a:lnL>
                    <a:lnR w="12700" cap="flat" cmpd="sng" algn="ctr">
                      <a:solidFill>
                        <a:srgbClr val="19253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192531"/>
                      </a:solidFill>
                      <a:prstDash val="solid"/>
                      <a:round/>
                      <a:headEnd type="none" w="med" len="med"/>
                      <a:tailEnd type="none" w="med" len="med"/>
                    </a:lnB>
                    <a:solidFill>
                      <a:srgbClr val="1B2A3A"/>
                    </a:solidFill>
                  </a:tcPr>
                </a:tc>
                <a:tc>
                  <a:txBody>
                    <a:bodyPr/>
                    <a:lstStyle/>
                    <a:p>
                      <a:pPr marL="0" indent="0">
                        <a:lnSpc>
                          <a:spcPts val="1680"/>
                        </a:lnSpc>
                        <a:buNone/>
                      </a:pPr>
                      <a:r>
                        <a:rPr lang="en-US" sz="1200" b="1" dirty="0">
                          <a:solidFill>
                            <a:srgbClr val="F6F4EE"/>
                          </a:solidFill>
                          <a:latin typeface="+mj-lt"/>
                          <a:ea typeface="IBM Plex Sans" pitchFamily="34" charset="-122"/>
                          <a:cs typeface="IBM Plex Sans" pitchFamily="34" charset="-120"/>
                        </a:rPr>
                        <a:t>Plus</a:t>
                      </a:r>
                      <a:endParaRPr lang="en-US" sz="1200" dirty="0">
                        <a:latin typeface="+mj-lt"/>
                        <a:ea typeface="IBM Plex Sans" charset="0"/>
                        <a:cs typeface="IBM Plex Sans" charset="0"/>
                      </a:endParaRPr>
                    </a:p>
                  </a:txBody>
                  <a:tcPr marL="53340" marR="53340" marT="53340" marB="53340">
                    <a:lnL w="12700" cap="flat" cmpd="sng" algn="ctr">
                      <a:solidFill>
                        <a:srgbClr val="192531"/>
                      </a:solidFill>
                      <a:prstDash val="solid"/>
                      <a:round/>
                      <a:headEnd type="none" w="med" len="med"/>
                      <a:tailEnd type="none" w="med" len="med"/>
                    </a:lnL>
                    <a:lnR w="12700" cap="flat" cmpd="sng" algn="ctr">
                      <a:solidFill>
                        <a:srgbClr val="19253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192531"/>
                      </a:solidFill>
                      <a:prstDash val="solid"/>
                      <a:round/>
                      <a:headEnd type="none" w="med" len="med"/>
                      <a:tailEnd type="none" w="med" len="med"/>
                    </a:lnB>
                    <a:solidFill>
                      <a:srgbClr val="1B2A3A"/>
                    </a:solidFill>
                  </a:tcPr>
                </a:tc>
                <a:tc>
                  <a:txBody>
                    <a:bodyPr/>
                    <a:lstStyle/>
                    <a:p>
                      <a:pPr marL="0" indent="0">
                        <a:lnSpc>
                          <a:spcPts val="1680"/>
                        </a:lnSpc>
                        <a:buNone/>
                      </a:pPr>
                      <a:r>
                        <a:rPr lang="en-US" sz="1200" b="1" dirty="0">
                          <a:solidFill>
                            <a:srgbClr val="F6F4EE"/>
                          </a:solidFill>
                          <a:latin typeface="+mj-lt"/>
                          <a:ea typeface="IBM Plex Sans" pitchFamily="34" charset="-122"/>
                          <a:cs typeface="IBM Plex Sans" pitchFamily="34" charset="-120"/>
                        </a:rPr>
                        <a:t>Minus</a:t>
                      </a:r>
                      <a:endParaRPr lang="en-US" sz="1200" dirty="0">
                        <a:latin typeface="+mj-lt"/>
                        <a:ea typeface="IBM Plex Sans" charset="0"/>
                        <a:cs typeface="IBM Plex Sans" charset="0"/>
                      </a:endParaRPr>
                    </a:p>
                  </a:txBody>
                  <a:tcPr marL="53340" marR="53340" marT="53340" marB="53340">
                    <a:lnL w="12700" cap="flat" cmpd="sng" algn="ctr">
                      <a:solidFill>
                        <a:srgbClr val="192531"/>
                      </a:solidFill>
                      <a:prstDash val="solid"/>
                      <a:round/>
                      <a:headEnd type="none" w="med" len="med"/>
                      <a:tailEnd type="none" w="med" len="med"/>
                    </a:lnL>
                    <a:lnR w="12700" cap="flat" cmpd="sng" algn="ctr">
                      <a:solidFill>
                        <a:srgbClr val="19253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192531"/>
                      </a:solidFill>
                      <a:prstDash val="solid"/>
                      <a:round/>
                      <a:headEnd type="none" w="med" len="med"/>
                      <a:tailEnd type="none" w="med" len="med"/>
                    </a:lnB>
                    <a:solidFill>
                      <a:srgbClr val="1B2A3A"/>
                    </a:solidFill>
                  </a:tcPr>
                </a:tc>
                <a:extLst>
                  <a:ext uri="{0D108BD9-81ED-4DB2-BD59-A6C34878D82A}">
                    <a16:rowId xmlns:a16="http://schemas.microsoft.com/office/drawing/2014/main" val="10000"/>
                  </a:ext>
                </a:extLst>
              </a:tr>
              <a:tr h="546001">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Online</a:t>
                      </a:r>
                      <a:endParaRPr lang="en-US" sz="1200" dirty="0">
                        <a:latin typeface="+mj-lt"/>
                        <a:ea typeface="IBM Plex Sans" charset="0"/>
                        <a:cs typeface="IBM Plex Sans" charset="0"/>
                      </a:endParaRPr>
                    </a:p>
                  </a:txBody>
                  <a:tcPr marL="53340" marR="53340" marT="53340" marB="53340">
                    <a:lnL w="12700" cap="flat" cmpd="sng" algn="ctr">
                      <a:solidFill>
                        <a:srgbClr val="BCB9B1"/>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Cheap, fast, auto data</a:t>
                      </a:r>
                      <a:endParaRPr lang="en-US" sz="1200" dirty="0">
                        <a:latin typeface="+mj-lt"/>
                        <a:ea typeface="IBM Plex Sans" charset="0"/>
                        <a:cs typeface="IBM Plex Sans" charset="0"/>
                      </a:endParaRPr>
                    </a:p>
                  </a:txBody>
                  <a:tcPr marL="53340" marR="53340" marT="53340" marB="5334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Misses people offline</a:t>
                      </a:r>
                      <a:endParaRPr lang="en-US" sz="1200" dirty="0">
                        <a:latin typeface="+mj-lt"/>
                        <a:ea typeface="IBM Plex Sans" charset="0"/>
                        <a:cs typeface="IBM Plex Sans" charset="0"/>
                      </a:endParaRPr>
                    </a:p>
                  </a:txBody>
                  <a:tcPr marL="53340" marR="53340" marT="53340" marB="5334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546001">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Face-to-face</a:t>
                      </a:r>
                      <a:endParaRPr lang="en-US" sz="1200" dirty="0">
                        <a:latin typeface="+mj-lt"/>
                        <a:ea typeface="IBM Plex Sans" charset="0"/>
                        <a:cs typeface="IBM Plex Sans" charset="0"/>
                      </a:endParaRPr>
                    </a:p>
                  </a:txBody>
                  <a:tcPr marL="53340" marR="53340" marT="53340" marB="53340">
                    <a:lnL w="12700" cap="flat" cmpd="sng" algn="ctr">
                      <a:solidFill>
                        <a:srgbClr val="BCB9B1"/>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High response, can clarify</a:t>
                      </a:r>
                      <a:endParaRPr lang="en-US" sz="1200" dirty="0">
                        <a:latin typeface="+mj-lt"/>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Costly, interviewer bias</a:t>
                      </a:r>
                      <a:endParaRPr lang="en-US" sz="1200" dirty="0">
                        <a:latin typeface="+mj-lt"/>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2"/>
                  </a:ext>
                </a:extLst>
              </a:tr>
              <a:tr h="332680">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Phone</a:t>
                      </a:r>
                      <a:endParaRPr lang="en-US" sz="1200" dirty="0">
                        <a:latin typeface="+mj-lt"/>
                        <a:ea typeface="IBM Plex Sans" charset="0"/>
                        <a:cs typeface="IBM Plex Sans" charset="0"/>
                      </a:endParaRPr>
                    </a:p>
                  </a:txBody>
                  <a:tcPr marL="53340" marR="53340" marT="53340" marB="53340">
                    <a:lnL w="12700" cap="flat" cmpd="sng" algn="ctr">
                      <a:solidFill>
                        <a:srgbClr val="BCB9B1"/>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Quick, wide reach</a:t>
                      </a:r>
                      <a:endParaRPr lang="en-US" sz="1200" dirty="0">
                        <a:latin typeface="+mj-lt"/>
                        <a:ea typeface="IBM Plex Sans" charset="0"/>
                        <a:cs typeface="IBM Plex Sans" charset="0"/>
                      </a:endParaRPr>
                    </a:p>
                  </a:txBody>
                  <a:tcPr marL="53340" marR="53340" marT="53340" marB="5334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Short surveys only</a:t>
                      </a:r>
                      <a:endParaRPr lang="en-US" sz="1200" dirty="0">
                        <a:latin typeface="+mj-lt"/>
                        <a:ea typeface="IBM Plex Sans" charset="0"/>
                        <a:cs typeface="IBM Plex Sans" charset="0"/>
                      </a:endParaRPr>
                    </a:p>
                  </a:txBody>
                  <a:tcPr marL="53340" marR="53340" marT="53340" marB="5334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r h="546001">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Paper</a:t>
                      </a:r>
                      <a:endParaRPr lang="en-US" sz="1200" dirty="0">
                        <a:latin typeface="+mj-lt"/>
                        <a:ea typeface="IBM Plex Sans" charset="0"/>
                        <a:cs typeface="IBM Plex Sans" charset="0"/>
                      </a:endParaRPr>
                    </a:p>
                  </a:txBody>
                  <a:tcPr marL="53340" marR="53340" marT="53340" marB="53340">
                    <a:lnL w="12700" cap="flat" cmpd="sng" algn="ctr">
                      <a:solidFill>
                        <a:srgbClr val="BCB9B1"/>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No internet needed</a:t>
                      </a:r>
                      <a:endParaRPr lang="en-US" sz="1200" dirty="0">
                        <a:latin typeface="+mj-lt"/>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2B3644"/>
                          </a:solidFill>
                          <a:latin typeface="+mj-lt"/>
                          <a:ea typeface="IBM Plex Sans" pitchFamily="34" charset="-122"/>
                          <a:cs typeface="IBM Plex Sans" pitchFamily="34" charset="-120"/>
                        </a:rPr>
                        <a:t>Manual data entry</a:t>
                      </a:r>
                      <a:endParaRPr lang="en-US" sz="1200" dirty="0">
                        <a:latin typeface="+mj-lt"/>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3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46A"/>
                </a:solidFill>
                <a:latin typeface="+mj-lt"/>
                <a:ea typeface="IBM Plex Sans" pitchFamily="34" charset="-122"/>
                <a:cs typeface="IBM Plex Sans" pitchFamily="34" charset="-120"/>
              </a:rPr>
              <a:t>STEP 4 · ETHICAL APPROVAL</a:t>
            </a:r>
            <a:endParaRPr lang="en-US" sz="1200" dirty="0">
              <a:latin typeface="+mj-lt"/>
            </a:endParaRPr>
          </a:p>
        </p:txBody>
      </p:sp>
      <p:sp>
        <p:nvSpPr>
          <p:cNvPr id="3" name="Text 1"/>
          <p:cNvSpPr>
            <a:spLocks noGrp="1"/>
          </p:cNvSpPr>
          <p:nvPr>
            <p:ph type="title"/>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6F4EE"/>
                </a:solidFill>
                <a:latin typeface="+mj-lt"/>
                <a:ea typeface="Source Serif 4" pitchFamily="18" charset="-122"/>
                <a:cs typeface="Source Serif 4" pitchFamily="18" charset="-120"/>
              </a:rPr>
              <a:t>Get ethical approval first</a:t>
            </a:r>
            <a:endParaRPr lang="en-US" sz="3200" dirty="0">
              <a:latin typeface="+mj-lt"/>
            </a:endParaRPr>
          </a:p>
        </p:txBody>
      </p:sp>
      <p:sp>
        <p:nvSpPr>
          <p:cNvPr id="4" name="Text 2"/>
          <p:cNvSpPr/>
          <p:nvPr/>
        </p:nvSpPr>
        <p:spPr>
          <a:xfrm>
            <a:off x="812800" y="1879550"/>
            <a:ext cx="330200" cy="72633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0A46A"/>
                </a:solidFill>
                <a:latin typeface="+mj-lt"/>
                <a:ea typeface="Source Serif 4" pitchFamily="18" charset="-122"/>
                <a:cs typeface="Source Serif 4" pitchFamily="18" charset="-120"/>
              </a:rPr>
              <a:t>1</a:t>
            </a:r>
            <a:endParaRPr lang="en-US" sz="1600" dirty="0">
              <a:latin typeface="+mj-lt"/>
            </a:endParaRPr>
          </a:p>
        </p:txBody>
      </p:sp>
      <p:sp>
        <p:nvSpPr>
          <p:cNvPr id="5" name="Text 3"/>
          <p:cNvSpPr/>
          <p:nvPr/>
        </p:nvSpPr>
        <p:spPr>
          <a:xfrm>
            <a:off x="1219200" y="1879550"/>
            <a:ext cx="45521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4EE"/>
                </a:solidFill>
                <a:latin typeface="+mj-lt"/>
                <a:ea typeface="IBM Plex Sans" pitchFamily="34" charset="-122"/>
                <a:cs typeface="IBM Plex Sans" pitchFamily="34" charset="-120"/>
              </a:rPr>
              <a:t>Prepare documents</a:t>
            </a:r>
            <a:endParaRPr lang="en-US" sz="1400" dirty="0">
              <a:latin typeface="+mj-lt"/>
            </a:endParaRPr>
          </a:p>
        </p:txBody>
      </p:sp>
      <p:sp>
        <p:nvSpPr>
          <p:cNvPr id="6" name="Text 4"/>
          <p:cNvSpPr/>
          <p:nvPr/>
        </p:nvSpPr>
        <p:spPr>
          <a:xfrm>
            <a:off x="1219200" y="2153841"/>
            <a:ext cx="455218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DD"/>
                </a:solidFill>
                <a:latin typeface="+mj-lt"/>
                <a:ea typeface="IBM Plex Sans" pitchFamily="34" charset="-122"/>
                <a:cs typeface="IBM Plex Sans" pitchFamily="34" charset="-120"/>
              </a:rPr>
              <a:t>Proposal, questionnaire, information sheet, consent form, data management plan</a:t>
            </a:r>
            <a:endParaRPr lang="en-US" sz="1200" dirty="0">
              <a:latin typeface="+mj-lt"/>
            </a:endParaRPr>
          </a:p>
        </p:txBody>
      </p:sp>
      <p:sp>
        <p:nvSpPr>
          <p:cNvPr id="7" name="Text 5"/>
          <p:cNvSpPr/>
          <p:nvPr/>
        </p:nvSpPr>
        <p:spPr>
          <a:xfrm>
            <a:off x="812800" y="2707481"/>
            <a:ext cx="330200" cy="51301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0A46A"/>
                </a:solidFill>
                <a:latin typeface="+mj-lt"/>
                <a:ea typeface="Source Serif 4" pitchFamily="18" charset="-122"/>
                <a:cs typeface="Source Serif 4" pitchFamily="18" charset="-120"/>
              </a:rPr>
              <a:t>2</a:t>
            </a:r>
            <a:endParaRPr lang="en-US" sz="1600" dirty="0">
              <a:latin typeface="+mj-lt"/>
            </a:endParaRPr>
          </a:p>
        </p:txBody>
      </p:sp>
      <p:sp>
        <p:nvSpPr>
          <p:cNvPr id="8" name="Text 6"/>
          <p:cNvSpPr/>
          <p:nvPr/>
        </p:nvSpPr>
        <p:spPr>
          <a:xfrm>
            <a:off x="1219200" y="2707481"/>
            <a:ext cx="45521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4EE"/>
                </a:solidFill>
                <a:latin typeface="+mj-lt"/>
                <a:ea typeface="IBM Plex Sans" pitchFamily="34" charset="-122"/>
                <a:cs typeface="IBM Plex Sans" pitchFamily="34" charset="-120"/>
              </a:rPr>
              <a:t>Submit for review</a:t>
            </a:r>
            <a:endParaRPr lang="en-US" sz="1400" dirty="0">
              <a:latin typeface="+mj-lt"/>
            </a:endParaRPr>
          </a:p>
        </p:txBody>
      </p:sp>
      <p:sp>
        <p:nvSpPr>
          <p:cNvPr id="9" name="Text 7"/>
          <p:cNvSpPr/>
          <p:nvPr/>
        </p:nvSpPr>
        <p:spPr>
          <a:xfrm>
            <a:off x="1219200" y="2981771"/>
            <a:ext cx="455218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DD"/>
                </a:solidFill>
                <a:latin typeface="+mj-lt"/>
                <a:ea typeface="IBM Plex Sans" pitchFamily="34" charset="-122"/>
                <a:cs typeface="IBM Plex Sans" pitchFamily="34" charset="-120"/>
              </a:rPr>
              <a:t>To your university's Research Ethics Committee (or IRB)</a:t>
            </a:r>
            <a:endParaRPr lang="en-US" sz="1200" dirty="0">
              <a:latin typeface="+mj-lt"/>
            </a:endParaRPr>
          </a:p>
        </p:txBody>
      </p:sp>
      <p:sp>
        <p:nvSpPr>
          <p:cNvPr id="10" name="Text 8"/>
          <p:cNvSpPr/>
          <p:nvPr/>
        </p:nvSpPr>
        <p:spPr>
          <a:xfrm>
            <a:off x="812800" y="3322092"/>
            <a:ext cx="330200" cy="51301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0A46A"/>
                </a:solidFill>
                <a:latin typeface="+mj-lt"/>
                <a:ea typeface="Source Serif 4" pitchFamily="18" charset="-122"/>
                <a:cs typeface="Source Serif 4" pitchFamily="18" charset="-120"/>
              </a:rPr>
              <a:t>3</a:t>
            </a:r>
            <a:endParaRPr lang="en-US" sz="1600" dirty="0">
              <a:latin typeface="+mj-lt"/>
            </a:endParaRPr>
          </a:p>
        </p:txBody>
      </p:sp>
      <p:sp>
        <p:nvSpPr>
          <p:cNvPr id="11" name="Text 9"/>
          <p:cNvSpPr/>
          <p:nvPr/>
        </p:nvSpPr>
        <p:spPr>
          <a:xfrm>
            <a:off x="1219200" y="3322092"/>
            <a:ext cx="45521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4EE"/>
                </a:solidFill>
                <a:latin typeface="+mj-lt"/>
                <a:ea typeface="IBM Plex Sans" pitchFamily="34" charset="-122"/>
                <a:cs typeface="IBM Plex Sans" pitchFamily="34" charset="-120"/>
              </a:rPr>
              <a:t>Revise</a:t>
            </a:r>
            <a:endParaRPr lang="en-US" sz="1400" dirty="0">
              <a:latin typeface="+mj-lt"/>
            </a:endParaRPr>
          </a:p>
        </p:txBody>
      </p:sp>
      <p:sp>
        <p:nvSpPr>
          <p:cNvPr id="12" name="Text 10"/>
          <p:cNvSpPr/>
          <p:nvPr/>
        </p:nvSpPr>
        <p:spPr>
          <a:xfrm>
            <a:off x="1219200" y="3596382"/>
            <a:ext cx="455218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DD"/>
                </a:solidFill>
                <a:latin typeface="+mj-lt"/>
                <a:ea typeface="IBM Plex Sans" pitchFamily="34" charset="-122"/>
                <a:cs typeface="IBM Plex Sans" pitchFamily="34" charset="-120"/>
              </a:rPr>
              <a:t>Answer the committee's comments and resubmit if asked</a:t>
            </a:r>
            <a:endParaRPr lang="en-US" sz="1200" dirty="0">
              <a:latin typeface="+mj-lt"/>
            </a:endParaRPr>
          </a:p>
        </p:txBody>
      </p:sp>
      <p:sp>
        <p:nvSpPr>
          <p:cNvPr id="13" name="Text 11"/>
          <p:cNvSpPr/>
          <p:nvPr/>
        </p:nvSpPr>
        <p:spPr>
          <a:xfrm>
            <a:off x="812800" y="3936702"/>
            <a:ext cx="330200" cy="51301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0A46A"/>
                </a:solidFill>
                <a:latin typeface="+mj-lt"/>
                <a:ea typeface="Source Serif 4" pitchFamily="18" charset="-122"/>
                <a:cs typeface="Source Serif 4" pitchFamily="18" charset="-120"/>
              </a:rPr>
              <a:t>4</a:t>
            </a:r>
            <a:endParaRPr lang="en-US" sz="1600" dirty="0">
              <a:latin typeface="+mj-lt"/>
            </a:endParaRPr>
          </a:p>
        </p:txBody>
      </p:sp>
      <p:sp>
        <p:nvSpPr>
          <p:cNvPr id="14" name="Text 12"/>
          <p:cNvSpPr/>
          <p:nvPr/>
        </p:nvSpPr>
        <p:spPr>
          <a:xfrm>
            <a:off x="1219200" y="3936702"/>
            <a:ext cx="45521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4EE"/>
                </a:solidFill>
                <a:latin typeface="+mj-lt"/>
                <a:ea typeface="IBM Plex Sans" pitchFamily="34" charset="-122"/>
                <a:cs typeface="IBM Plex Sans" pitchFamily="34" charset="-120"/>
              </a:rPr>
              <a:t>Receive approval</a:t>
            </a:r>
            <a:endParaRPr lang="en-US" sz="1400" dirty="0">
              <a:latin typeface="+mj-lt"/>
            </a:endParaRPr>
          </a:p>
        </p:txBody>
      </p:sp>
      <p:sp>
        <p:nvSpPr>
          <p:cNvPr id="15" name="Text 13"/>
          <p:cNvSpPr/>
          <p:nvPr/>
        </p:nvSpPr>
        <p:spPr>
          <a:xfrm>
            <a:off x="1219200" y="4210993"/>
            <a:ext cx="455218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DD"/>
                </a:solidFill>
                <a:latin typeface="+mj-lt"/>
                <a:ea typeface="IBM Plex Sans" pitchFamily="34" charset="-122"/>
                <a:cs typeface="IBM Plex Sans" pitchFamily="34" charset="-120"/>
              </a:rPr>
              <a:t>Keep the approval letter and reference number</a:t>
            </a:r>
            <a:endParaRPr lang="en-US" sz="1200" dirty="0">
              <a:latin typeface="+mj-lt"/>
            </a:endParaRPr>
          </a:p>
        </p:txBody>
      </p:sp>
      <p:sp>
        <p:nvSpPr>
          <p:cNvPr id="16" name="Text 14"/>
          <p:cNvSpPr/>
          <p:nvPr/>
        </p:nvSpPr>
        <p:spPr>
          <a:xfrm>
            <a:off x="812800" y="4551313"/>
            <a:ext cx="330200" cy="51301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0A46A"/>
                </a:solidFill>
                <a:latin typeface="+mj-lt"/>
                <a:ea typeface="Source Serif 4" pitchFamily="18" charset="-122"/>
                <a:cs typeface="Source Serif 4" pitchFamily="18" charset="-120"/>
              </a:rPr>
              <a:t>5</a:t>
            </a:r>
            <a:endParaRPr lang="en-US" sz="1600" dirty="0">
              <a:latin typeface="+mj-lt"/>
            </a:endParaRPr>
          </a:p>
        </p:txBody>
      </p:sp>
      <p:sp>
        <p:nvSpPr>
          <p:cNvPr id="17" name="Text 15"/>
          <p:cNvSpPr/>
          <p:nvPr/>
        </p:nvSpPr>
        <p:spPr>
          <a:xfrm>
            <a:off x="1219200" y="4551313"/>
            <a:ext cx="45521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4EE"/>
                </a:solidFill>
                <a:latin typeface="+mj-lt"/>
                <a:ea typeface="IBM Plex Sans" pitchFamily="34" charset="-122"/>
                <a:cs typeface="IBM Plex Sans" pitchFamily="34" charset="-120"/>
              </a:rPr>
              <a:t>Only then collect data</a:t>
            </a:r>
            <a:endParaRPr lang="en-US" sz="1400" dirty="0">
              <a:latin typeface="+mj-lt"/>
            </a:endParaRPr>
          </a:p>
        </p:txBody>
      </p:sp>
      <p:sp>
        <p:nvSpPr>
          <p:cNvPr id="18" name="Text 16"/>
          <p:cNvSpPr/>
          <p:nvPr/>
        </p:nvSpPr>
        <p:spPr>
          <a:xfrm>
            <a:off x="1219200" y="4825603"/>
            <a:ext cx="455218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DD"/>
                </a:solidFill>
                <a:latin typeface="+mj-lt"/>
                <a:ea typeface="IBM Plex Sans" pitchFamily="34" charset="-122"/>
                <a:cs typeface="IBM Plex Sans" pitchFamily="34" charset="-120"/>
              </a:rPr>
              <a:t>Re-apply if your methods or questions change</a:t>
            </a:r>
            <a:endParaRPr lang="en-US" sz="1200" dirty="0">
              <a:latin typeface="+mj-lt"/>
            </a:endParaRPr>
          </a:p>
        </p:txBody>
      </p:sp>
      <p:sp>
        <p:nvSpPr>
          <p:cNvPr id="19" name="Shape 17"/>
          <p:cNvSpPr/>
          <p:nvPr/>
        </p:nvSpPr>
        <p:spPr>
          <a:xfrm>
            <a:off x="5946775" y="1882725"/>
            <a:ext cx="2647950" cy="1012081"/>
          </a:xfrm>
          <a:prstGeom prst="roundRect">
            <a:avLst>
              <a:gd name="adj" fmla="val 9725"/>
            </a:avLst>
          </a:prstGeom>
          <a:solidFill>
            <a:srgbClr val="24384C"/>
          </a:solidFill>
          <a:ln w="6350">
            <a:solidFill>
              <a:srgbClr val="33506B"/>
            </a:solidFill>
            <a:prstDash val="solid"/>
          </a:ln>
        </p:spPr>
      </p:sp>
      <p:sp>
        <p:nvSpPr>
          <p:cNvPr id="20" name="Text 18"/>
          <p:cNvSpPr/>
          <p:nvPr/>
        </p:nvSpPr>
        <p:spPr>
          <a:xfrm>
            <a:off x="6102350" y="2038300"/>
            <a:ext cx="2406904"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4EE"/>
                </a:solidFill>
                <a:latin typeface="+mj-lt"/>
                <a:ea typeface="IBM Plex Sans" pitchFamily="34" charset="-122"/>
                <a:cs typeface="IBM Plex Sans" pitchFamily="34" charset="-120"/>
              </a:rPr>
              <a:t>Informed consent</a:t>
            </a:r>
            <a:endParaRPr lang="en-US" sz="1400" dirty="0">
              <a:latin typeface="+mj-lt"/>
            </a:endParaRPr>
          </a:p>
        </p:txBody>
      </p:sp>
      <p:sp>
        <p:nvSpPr>
          <p:cNvPr id="21" name="Text 19"/>
          <p:cNvSpPr/>
          <p:nvPr/>
        </p:nvSpPr>
        <p:spPr>
          <a:xfrm>
            <a:off x="6102350" y="2312591"/>
            <a:ext cx="240690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DD"/>
                </a:solidFill>
                <a:latin typeface="+mj-lt"/>
                <a:ea typeface="IBM Plex Sans" pitchFamily="34" charset="-122"/>
                <a:cs typeface="IBM Plex Sans" pitchFamily="34" charset="-120"/>
              </a:rPr>
              <a:t>Explain the study; get clear agreement</a:t>
            </a:r>
            <a:endParaRPr lang="en-US" sz="1200" dirty="0">
              <a:latin typeface="+mj-lt"/>
            </a:endParaRPr>
          </a:p>
        </p:txBody>
      </p:sp>
      <p:sp>
        <p:nvSpPr>
          <p:cNvPr id="22" name="Shape 20"/>
          <p:cNvSpPr/>
          <p:nvPr/>
        </p:nvSpPr>
        <p:spPr>
          <a:xfrm>
            <a:off x="8728075" y="1882725"/>
            <a:ext cx="2647950" cy="1012081"/>
          </a:xfrm>
          <a:prstGeom prst="roundRect">
            <a:avLst>
              <a:gd name="adj" fmla="val 9725"/>
            </a:avLst>
          </a:prstGeom>
          <a:solidFill>
            <a:srgbClr val="24384C"/>
          </a:solidFill>
          <a:ln w="6350">
            <a:solidFill>
              <a:srgbClr val="33506B"/>
            </a:solidFill>
            <a:prstDash val="solid"/>
          </a:ln>
        </p:spPr>
      </p:sp>
      <p:sp>
        <p:nvSpPr>
          <p:cNvPr id="23" name="Text 21"/>
          <p:cNvSpPr/>
          <p:nvPr/>
        </p:nvSpPr>
        <p:spPr>
          <a:xfrm>
            <a:off x="8883650" y="2038300"/>
            <a:ext cx="2406904"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4EE"/>
                </a:solidFill>
                <a:latin typeface="+mj-lt"/>
                <a:ea typeface="IBM Plex Sans" pitchFamily="34" charset="-122"/>
                <a:cs typeface="IBM Plex Sans" pitchFamily="34" charset="-120"/>
              </a:rPr>
              <a:t>Free to withdraw</a:t>
            </a:r>
            <a:endParaRPr lang="en-US" sz="1400" dirty="0">
              <a:latin typeface="+mj-lt"/>
            </a:endParaRPr>
          </a:p>
        </p:txBody>
      </p:sp>
      <p:sp>
        <p:nvSpPr>
          <p:cNvPr id="24" name="Text 22"/>
          <p:cNvSpPr/>
          <p:nvPr/>
        </p:nvSpPr>
        <p:spPr>
          <a:xfrm>
            <a:off x="8883650" y="2312591"/>
            <a:ext cx="240690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DD"/>
                </a:solidFill>
                <a:latin typeface="+mj-lt"/>
                <a:ea typeface="IBM Plex Sans" pitchFamily="34" charset="-122"/>
                <a:cs typeface="IBM Plex Sans" pitchFamily="34" charset="-120"/>
              </a:rPr>
              <a:t>Participation is voluntary, no penalty</a:t>
            </a:r>
            <a:endParaRPr lang="en-US" sz="1200" dirty="0">
              <a:latin typeface="+mj-lt"/>
            </a:endParaRPr>
          </a:p>
        </p:txBody>
      </p:sp>
      <p:sp>
        <p:nvSpPr>
          <p:cNvPr id="25" name="Shape 23"/>
          <p:cNvSpPr/>
          <p:nvPr/>
        </p:nvSpPr>
        <p:spPr>
          <a:xfrm>
            <a:off x="5946775" y="3028156"/>
            <a:ext cx="2647950" cy="1012081"/>
          </a:xfrm>
          <a:prstGeom prst="roundRect">
            <a:avLst>
              <a:gd name="adj" fmla="val 9725"/>
            </a:avLst>
          </a:prstGeom>
          <a:solidFill>
            <a:srgbClr val="24384C"/>
          </a:solidFill>
          <a:ln w="6350">
            <a:solidFill>
              <a:srgbClr val="33506B"/>
            </a:solidFill>
            <a:prstDash val="solid"/>
          </a:ln>
        </p:spPr>
      </p:sp>
      <p:sp>
        <p:nvSpPr>
          <p:cNvPr id="26" name="Text 24"/>
          <p:cNvSpPr/>
          <p:nvPr/>
        </p:nvSpPr>
        <p:spPr>
          <a:xfrm>
            <a:off x="6102350" y="3183731"/>
            <a:ext cx="2406904"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4EE"/>
                </a:solidFill>
                <a:latin typeface="+mj-lt"/>
                <a:ea typeface="IBM Plex Sans" pitchFamily="34" charset="-122"/>
                <a:cs typeface="IBM Plex Sans" pitchFamily="34" charset="-120"/>
              </a:rPr>
              <a:t>Anonymity</a:t>
            </a:r>
            <a:endParaRPr lang="en-US" sz="1400" dirty="0">
              <a:latin typeface="+mj-lt"/>
            </a:endParaRPr>
          </a:p>
        </p:txBody>
      </p:sp>
      <p:sp>
        <p:nvSpPr>
          <p:cNvPr id="27" name="Text 25"/>
          <p:cNvSpPr/>
          <p:nvPr/>
        </p:nvSpPr>
        <p:spPr>
          <a:xfrm>
            <a:off x="6102350" y="3458021"/>
            <a:ext cx="240690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DD"/>
                </a:solidFill>
                <a:latin typeface="+mj-lt"/>
                <a:ea typeface="IBM Plex Sans" pitchFamily="34" charset="-122"/>
                <a:cs typeface="IBM Plex Sans" pitchFamily="34" charset="-120"/>
              </a:rPr>
              <a:t>No names unless needed; keep data confidential</a:t>
            </a:r>
            <a:endParaRPr lang="en-US" sz="1200" dirty="0">
              <a:latin typeface="+mj-lt"/>
            </a:endParaRPr>
          </a:p>
        </p:txBody>
      </p:sp>
      <p:sp>
        <p:nvSpPr>
          <p:cNvPr id="28" name="Shape 26"/>
          <p:cNvSpPr/>
          <p:nvPr/>
        </p:nvSpPr>
        <p:spPr>
          <a:xfrm>
            <a:off x="8728075" y="3028156"/>
            <a:ext cx="2647950" cy="1012081"/>
          </a:xfrm>
          <a:prstGeom prst="roundRect">
            <a:avLst>
              <a:gd name="adj" fmla="val 9725"/>
            </a:avLst>
          </a:prstGeom>
          <a:solidFill>
            <a:srgbClr val="24384C"/>
          </a:solidFill>
          <a:ln w="6350">
            <a:solidFill>
              <a:srgbClr val="33506B"/>
            </a:solidFill>
            <a:prstDash val="solid"/>
          </a:ln>
        </p:spPr>
      </p:sp>
      <p:sp>
        <p:nvSpPr>
          <p:cNvPr id="29" name="Text 27"/>
          <p:cNvSpPr/>
          <p:nvPr/>
        </p:nvSpPr>
        <p:spPr>
          <a:xfrm>
            <a:off x="8883650" y="3183731"/>
            <a:ext cx="2406904"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4EE"/>
                </a:solidFill>
                <a:latin typeface="+mj-lt"/>
                <a:ea typeface="IBM Plex Sans" pitchFamily="34" charset="-122"/>
                <a:cs typeface="IBM Plex Sans" pitchFamily="34" charset="-120"/>
              </a:rPr>
              <a:t>No harm</a:t>
            </a:r>
            <a:endParaRPr lang="en-US" sz="1400" dirty="0">
              <a:latin typeface="+mj-lt"/>
            </a:endParaRPr>
          </a:p>
        </p:txBody>
      </p:sp>
      <p:sp>
        <p:nvSpPr>
          <p:cNvPr id="30" name="Text 28"/>
          <p:cNvSpPr/>
          <p:nvPr/>
        </p:nvSpPr>
        <p:spPr>
          <a:xfrm>
            <a:off x="8883650" y="3458021"/>
            <a:ext cx="240690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DD"/>
                </a:solidFill>
                <a:latin typeface="+mj-lt"/>
                <a:ea typeface="IBM Plex Sans" pitchFamily="34" charset="-122"/>
                <a:cs typeface="IBM Plex Sans" pitchFamily="34" charset="-120"/>
              </a:rPr>
              <a:t>Avoid distressing or intrusive questions</a:t>
            </a:r>
            <a:endParaRPr lang="en-US" sz="1200" dirty="0">
              <a:latin typeface="+mj-lt"/>
            </a:endParaRPr>
          </a:p>
        </p:txBody>
      </p:sp>
      <p:sp>
        <p:nvSpPr>
          <p:cNvPr id="31" name="Shape 29"/>
          <p:cNvSpPr/>
          <p:nvPr/>
        </p:nvSpPr>
        <p:spPr>
          <a:xfrm>
            <a:off x="5946775" y="4173587"/>
            <a:ext cx="2647950" cy="1012081"/>
          </a:xfrm>
          <a:prstGeom prst="roundRect">
            <a:avLst>
              <a:gd name="adj" fmla="val 9725"/>
            </a:avLst>
          </a:prstGeom>
          <a:solidFill>
            <a:srgbClr val="24384C"/>
          </a:solidFill>
          <a:ln w="6350">
            <a:solidFill>
              <a:srgbClr val="33506B"/>
            </a:solidFill>
            <a:prstDash val="solid"/>
          </a:ln>
        </p:spPr>
      </p:sp>
      <p:sp>
        <p:nvSpPr>
          <p:cNvPr id="32" name="Text 30"/>
          <p:cNvSpPr/>
          <p:nvPr/>
        </p:nvSpPr>
        <p:spPr>
          <a:xfrm>
            <a:off x="6102350" y="4329162"/>
            <a:ext cx="2406904"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4EE"/>
                </a:solidFill>
                <a:latin typeface="+mj-lt"/>
                <a:ea typeface="IBM Plex Sans" pitchFamily="34" charset="-122"/>
                <a:cs typeface="IBM Plex Sans" pitchFamily="34" charset="-120"/>
              </a:rPr>
              <a:t>Data protection</a:t>
            </a:r>
            <a:endParaRPr lang="en-US" sz="1400" dirty="0">
              <a:latin typeface="+mj-lt"/>
            </a:endParaRPr>
          </a:p>
        </p:txBody>
      </p:sp>
      <p:sp>
        <p:nvSpPr>
          <p:cNvPr id="33" name="Text 31"/>
          <p:cNvSpPr/>
          <p:nvPr/>
        </p:nvSpPr>
        <p:spPr>
          <a:xfrm>
            <a:off x="6102350" y="4603452"/>
            <a:ext cx="240690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DD"/>
                </a:solidFill>
                <a:latin typeface="+mj-lt"/>
                <a:ea typeface="IBM Plex Sans" pitchFamily="34" charset="-122"/>
                <a:cs typeface="IBM Plex Sans" pitchFamily="34" charset="-120"/>
              </a:rPr>
              <a:t>Store securely; follow GDPR or local law</a:t>
            </a:r>
            <a:endParaRPr lang="en-US" sz="1200" dirty="0">
              <a:latin typeface="+mj-lt"/>
            </a:endParaRPr>
          </a:p>
        </p:txBody>
      </p:sp>
      <p:sp>
        <p:nvSpPr>
          <p:cNvPr id="34" name="Shape 32"/>
          <p:cNvSpPr/>
          <p:nvPr/>
        </p:nvSpPr>
        <p:spPr>
          <a:xfrm>
            <a:off x="8728075" y="4173587"/>
            <a:ext cx="2647950" cy="1012081"/>
          </a:xfrm>
          <a:prstGeom prst="roundRect">
            <a:avLst>
              <a:gd name="adj" fmla="val 9725"/>
            </a:avLst>
          </a:prstGeom>
          <a:solidFill>
            <a:srgbClr val="24384C"/>
          </a:solidFill>
          <a:ln w="6350">
            <a:solidFill>
              <a:srgbClr val="33506B"/>
            </a:solidFill>
            <a:prstDash val="solid"/>
          </a:ln>
        </p:spPr>
      </p:sp>
      <p:sp>
        <p:nvSpPr>
          <p:cNvPr id="35" name="Text 33"/>
          <p:cNvSpPr/>
          <p:nvPr/>
        </p:nvSpPr>
        <p:spPr>
          <a:xfrm>
            <a:off x="8883650" y="4329162"/>
            <a:ext cx="2406904"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4EE"/>
                </a:solidFill>
                <a:latin typeface="+mj-lt"/>
                <a:ea typeface="IBM Plex Sans" pitchFamily="34" charset="-122"/>
                <a:cs typeface="IBM Plex Sans" pitchFamily="34" charset="-120"/>
              </a:rPr>
              <a:t>Honesty</a:t>
            </a:r>
            <a:endParaRPr lang="en-US" sz="1400" dirty="0">
              <a:latin typeface="+mj-lt"/>
            </a:endParaRPr>
          </a:p>
        </p:txBody>
      </p:sp>
      <p:sp>
        <p:nvSpPr>
          <p:cNvPr id="36" name="Text 34"/>
          <p:cNvSpPr/>
          <p:nvPr/>
        </p:nvSpPr>
        <p:spPr>
          <a:xfrm>
            <a:off x="8883650" y="4603452"/>
            <a:ext cx="240690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DD"/>
                </a:solidFill>
                <a:latin typeface="+mj-lt"/>
                <a:ea typeface="IBM Plex Sans" pitchFamily="34" charset="-122"/>
                <a:cs typeface="IBM Plex Sans" pitchFamily="34" charset="-120"/>
              </a:rPr>
              <a:t>No deception; report results truthfully</a:t>
            </a:r>
            <a:endParaRPr lang="en-US" sz="1200" dirty="0">
              <a:latin typeface="+mj-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60F"/>
                </a:solidFill>
                <a:latin typeface="+mj-lt"/>
                <a:ea typeface="IBM Plex Sans" pitchFamily="34" charset="-122"/>
                <a:cs typeface="IBM Plex Sans" pitchFamily="34" charset="-120"/>
              </a:rPr>
              <a:t>STEPS 5–6 · PILOT AND COLLECT</a:t>
            </a:r>
            <a:endParaRPr lang="en-US" sz="1200" dirty="0">
              <a:latin typeface="+mj-lt"/>
            </a:endParaRPr>
          </a:p>
        </p:txBody>
      </p:sp>
      <p:sp>
        <p:nvSpPr>
          <p:cNvPr id="3" name="Text 1"/>
          <p:cNvSpPr>
            <a:spLocks noGrp="1"/>
          </p:cNvSpPr>
          <p:nvPr>
            <p:ph type="title"/>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A3A"/>
                </a:solidFill>
                <a:latin typeface="+mj-lt"/>
                <a:ea typeface="Source Serif 4" pitchFamily="18" charset="-122"/>
                <a:cs typeface="Source Serif 4" pitchFamily="18" charset="-120"/>
              </a:rPr>
              <a:t>Test it, then collect the data</a:t>
            </a:r>
            <a:endParaRPr lang="en-US" sz="3200" dirty="0">
              <a:latin typeface="+mj-lt"/>
            </a:endParaRPr>
          </a:p>
        </p:txBody>
      </p:sp>
      <p:sp>
        <p:nvSpPr>
          <p:cNvPr id="4" name="Shape 2"/>
          <p:cNvSpPr/>
          <p:nvPr/>
        </p:nvSpPr>
        <p:spPr>
          <a:xfrm>
            <a:off x="815975" y="1882725"/>
            <a:ext cx="3414167" cy="2739182"/>
          </a:xfrm>
          <a:prstGeom prst="roundRect">
            <a:avLst>
              <a:gd name="adj" fmla="val 3593"/>
            </a:avLst>
          </a:prstGeom>
          <a:solidFill>
            <a:srgbClr val="FFFDF8"/>
          </a:solidFill>
          <a:ln w="6350">
            <a:solidFill>
              <a:srgbClr val="DDD7C9"/>
            </a:solidFill>
            <a:prstDash val="solid"/>
          </a:ln>
        </p:spPr>
      </p:sp>
      <p:pic>
        <p:nvPicPr>
          <p:cNvPr id="5" name="Image 0" descr="Search"/>
          <p:cNvPicPr>
            <a:picLocks noChangeAspect="1"/>
          </p:cNvPicPr>
          <p:nvPr/>
        </p:nvPicPr>
        <p:blipFill>
          <a:blip r:embed="rId3"/>
          <a:srcRect/>
          <a:stretch/>
        </p:blipFill>
        <p:spPr>
          <a:xfrm>
            <a:off x="1047750" y="2114500"/>
            <a:ext cx="304800" cy="304800"/>
          </a:xfrm>
          <a:prstGeom prst="rect">
            <a:avLst/>
          </a:prstGeom>
        </p:spPr>
      </p:pic>
      <p:sp>
        <p:nvSpPr>
          <p:cNvPr id="6" name="Text 3"/>
          <p:cNvSpPr/>
          <p:nvPr/>
        </p:nvSpPr>
        <p:spPr>
          <a:xfrm>
            <a:off x="1047750" y="2520900"/>
            <a:ext cx="3039135"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2A3A"/>
                </a:solidFill>
                <a:latin typeface="+mj-lt"/>
                <a:ea typeface="IBM Plex Sans" pitchFamily="34" charset="-122"/>
                <a:cs typeface="IBM Plex Sans" pitchFamily="34" charset="-120"/>
              </a:rPr>
              <a:t>Pilot test</a:t>
            </a:r>
            <a:endParaRPr lang="en-US" sz="1800" dirty="0">
              <a:latin typeface="+mj-lt"/>
            </a:endParaRPr>
          </a:p>
        </p:txBody>
      </p:sp>
      <p:sp>
        <p:nvSpPr>
          <p:cNvPr id="7" name="Text 4"/>
          <p:cNvSpPr/>
          <p:nvPr/>
        </p:nvSpPr>
        <p:spPr>
          <a:xfrm>
            <a:off x="1125982" y="2896791"/>
            <a:ext cx="2953283" cy="1518741"/>
          </a:xfrm>
          <a:prstGeom prst="rect">
            <a:avLst/>
          </a:prstGeom>
          <a:noFill/>
          <a:ln/>
        </p:spPr>
        <p:txBody>
          <a:bodyPr wrap="square" lIns="0" tIns="0" rIns="0" bIns="0" rtlCol="0" anchor="t">
            <a:normAutofit/>
          </a:bodyPr>
          <a:lstStyle/>
          <a:p>
            <a:pPr marL="175768" indent="-175768" algn="l">
              <a:lnSpc>
                <a:spcPts val="1960"/>
              </a:lnSpc>
              <a:buSzPct val="100000"/>
              <a:buChar char="•"/>
            </a:pPr>
            <a:r>
              <a:rPr lang="en-US" sz="1400" dirty="0">
                <a:solidFill>
                  <a:srgbClr val="2B3644"/>
                </a:solidFill>
                <a:latin typeface="+mj-lt"/>
                <a:ea typeface="IBM Plex Sans" pitchFamily="34" charset="-122"/>
                <a:cs typeface="IBM Plex Sans" pitchFamily="34" charset="-120"/>
              </a:rPr>
              <a:t>Try it with 10–30 people like your target group</a:t>
            </a:r>
            <a:endParaRPr lang="en-US" sz="1400" dirty="0">
              <a:latin typeface="+mj-lt"/>
            </a:endParaRPr>
          </a:p>
          <a:p>
            <a:pPr marL="175768" indent="-175768" algn="l">
              <a:lnSpc>
                <a:spcPts val="1960"/>
              </a:lnSpc>
              <a:buSzPct val="100000"/>
              <a:buChar char="•"/>
            </a:pPr>
            <a:r>
              <a:rPr lang="en-US" sz="1400" dirty="0">
                <a:solidFill>
                  <a:srgbClr val="2B3644"/>
                </a:solidFill>
                <a:latin typeface="+mj-lt"/>
                <a:ea typeface="IBM Plex Sans" pitchFamily="34" charset="-122"/>
                <a:cs typeface="IBM Plex Sans" pitchFamily="34" charset="-120"/>
              </a:rPr>
              <a:t>Time how long it takes</a:t>
            </a:r>
            <a:endParaRPr lang="en-US" sz="1400" dirty="0">
              <a:latin typeface="+mj-lt"/>
            </a:endParaRPr>
          </a:p>
          <a:p>
            <a:pPr marL="175768" indent="-175768" algn="l">
              <a:lnSpc>
                <a:spcPts val="1960"/>
              </a:lnSpc>
              <a:buSzPct val="100000"/>
              <a:buChar char="•"/>
            </a:pPr>
            <a:r>
              <a:rPr lang="en-US" sz="1400" dirty="0">
                <a:solidFill>
                  <a:srgbClr val="2B3644"/>
                </a:solidFill>
                <a:latin typeface="+mj-lt"/>
                <a:ea typeface="IBM Plex Sans" pitchFamily="34" charset="-122"/>
                <a:cs typeface="IBM Plex Sans" pitchFamily="34" charset="-120"/>
              </a:rPr>
              <a:t>Ask what was unclear</a:t>
            </a:r>
            <a:endParaRPr lang="en-US" sz="1400" dirty="0">
              <a:latin typeface="+mj-lt"/>
            </a:endParaRPr>
          </a:p>
          <a:p>
            <a:pPr marL="175768" indent="-175768" algn="l">
              <a:lnSpc>
                <a:spcPts val="1960"/>
              </a:lnSpc>
              <a:buSzPct val="100000"/>
              <a:buChar char="•"/>
            </a:pPr>
            <a:r>
              <a:rPr lang="en-US" sz="1400" dirty="0">
                <a:solidFill>
                  <a:srgbClr val="2B3644"/>
                </a:solidFill>
                <a:latin typeface="+mj-lt"/>
                <a:ea typeface="IBM Plex Sans" pitchFamily="34" charset="-122"/>
                <a:cs typeface="IBM Plex Sans" pitchFamily="34" charset="-120"/>
              </a:rPr>
              <a:t>Revise wording, order and options</a:t>
            </a:r>
            <a:endParaRPr lang="en-US" sz="1400" dirty="0">
              <a:latin typeface="+mj-lt"/>
            </a:endParaRPr>
          </a:p>
        </p:txBody>
      </p:sp>
      <p:sp>
        <p:nvSpPr>
          <p:cNvPr id="8" name="Shape 5"/>
          <p:cNvSpPr/>
          <p:nvPr/>
        </p:nvSpPr>
        <p:spPr>
          <a:xfrm>
            <a:off x="4388892" y="1882725"/>
            <a:ext cx="3414216" cy="2739182"/>
          </a:xfrm>
          <a:prstGeom prst="roundRect">
            <a:avLst>
              <a:gd name="adj" fmla="val 3593"/>
            </a:avLst>
          </a:prstGeom>
          <a:solidFill>
            <a:srgbClr val="FFFDF8"/>
          </a:solidFill>
          <a:ln w="6350">
            <a:solidFill>
              <a:srgbClr val="DDD7C9"/>
            </a:solidFill>
            <a:prstDash val="solid"/>
          </a:ln>
        </p:spPr>
      </p:sp>
      <p:pic>
        <p:nvPicPr>
          <p:cNvPr id="9" name="Image 1" descr="Verified"/>
          <p:cNvPicPr>
            <a:picLocks noChangeAspect="1"/>
          </p:cNvPicPr>
          <p:nvPr/>
        </p:nvPicPr>
        <p:blipFill>
          <a:blip r:embed="rId4"/>
          <a:srcRect/>
          <a:stretch/>
        </p:blipFill>
        <p:spPr>
          <a:xfrm>
            <a:off x="4620667" y="2114500"/>
            <a:ext cx="304800" cy="304800"/>
          </a:xfrm>
          <a:prstGeom prst="rect">
            <a:avLst/>
          </a:prstGeom>
        </p:spPr>
      </p:pic>
      <p:sp>
        <p:nvSpPr>
          <p:cNvPr id="10" name="Text 6"/>
          <p:cNvSpPr/>
          <p:nvPr/>
        </p:nvSpPr>
        <p:spPr>
          <a:xfrm>
            <a:off x="4620667" y="2520900"/>
            <a:ext cx="3039186"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2A3A"/>
                </a:solidFill>
                <a:latin typeface="+mj-lt"/>
                <a:ea typeface="IBM Plex Sans" pitchFamily="34" charset="-122"/>
                <a:cs typeface="IBM Plex Sans" pitchFamily="34" charset="-120"/>
              </a:rPr>
              <a:t>Validity and reliability</a:t>
            </a:r>
            <a:endParaRPr lang="en-US" sz="1800" dirty="0">
              <a:latin typeface="+mj-lt"/>
            </a:endParaRPr>
          </a:p>
        </p:txBody>
      </p:sp>
      <p:sp>
        <p:nvSpPr>
          <p:cNvPr id="11" name="Text 7"/>
          <p:cNvSpPr/>
          <p:nvPr/>
        </p:nvSpPr>
        <p:spPr>
          <a:xfrm>
            <a:off x="4698899" y="2896791"/>
            <a:ext cx="2953334" cy="1269851"/>
          </a:xfrm>
          <a:prstGeom prst="rect">
            <a:avLst/>
          </a:prstGeom>
          <a:noFill/>
          <a:ln/>
        </p:spPr>
        <p:txBody>
          <a:bodyPr wrap="square" lIns="0" tIns="0" rIns="0" bIns="0" rtlCol="0" anchor="t">
            <a:normAutofit/>
          </a:bodyPr>
          <a:lstStyle/>
          <a:p>
            <a:pPr marL="175768" indent="-175768" algn="l">
              <a:lnSpc>
                <a:spcPts val="1960"/>
              </a:lnSpc>
              <a:buSzPct val="100000"/>
              <a:buChar char="•"/>
            </a:pPr>
            <a:r>
              <a:rPr lang="en-US" sz="1400" b="1" dirty="0">
                <a:solidFill>
                  <a:srgbClr val="2B3644"/>
                </a:solidFill>
                <a:latin typeface="+mj-lt"/>
                <a:ea typeface="IBM Plex Sans" pitchFamily="34" charset="-122"/>
                <a:cs typeface="IBM Plex Sans" pitchFamily="34" charset="-120"/>
              </a:rPr>
              <a:t>Validity:</a:t>
            </a:r>
            <a:r>
              <a:rPr lang="en-US" sz="1400" dirty="0">
                <a:solidFill>
                  <a:srgbClr val="2B3644"/>
                </a:solidFill>
                <a:latin typeface="+mj-lt"/>
                <a:ea typeface="IBM Plex Sans" pitchFamily="34" charset="-122"/>
                <a:cs typeface="IBM Plex Sans" pitchFamily="34" charset="-120"/>
              </a:rPr>
              <a:t> does it measure what it should? Use expert review</a:t>
            </a:r>
            <a:endParaRPr lang="en-US" sz="1400" dirty="0">
              <a:latin typeface="+mj-lt"/>
            </a:endParaRPr>
          </a:p>
          <a:p>
            <a:pPr marL="175768" indent="-175768" algn="l">
              <a:lnSpc>
                <a:spcPts val="1960"/>
              </a:lnSpc>
              <a:buSzPct val="100000"/>
              <a:buChar char="•"/>
            </a:pPr>
            <a:r>
              <a:rPr lang="en-US" sz="1400" b="1" dirty="0">
                <a:solidFill>
                  <a:srgbClr val="2B3644"/>
                </a:solidFill>
                <a:latin typeface="+mj-lt"/>
                <a:ea typeface="IBM Plex Sans" pitchFamily="34" charset="-122"/>
                <a:cs typeface="IBM Plex Sans" pitchFamily="34" charset="-120"/>
              </a:rPr>
              <a:t>Reliability:</a:t>
            </a:r>
            <a:r>
              <a:rPr lang="en-US" sz="1400" dirty="0">
                <a:solidFill>
                  <a:srgbClr val="2B3644"/>
                </a:solidFill>
                <a:latin typeface="+mj-lt"/>
                <a:ea typeface="IBM Plex Sans" pitchFamily="34" charset="-122"/>
                <a:cs typeface="IBM Plex Sans" pitchFamily="34" charset="-120"/>
              </a:rPr>
              <a:t> are results consistent? Cronbach's α ≥ 0.70</a:t>
            </a:r>
            <a:endParaRPr lang="en-US" sz="1400" dirty="0">
              <a:latin typeface="+mj-lt"/>
            </a:endParaRPr>
          </a:p>
          <a:p>
            <a:pPr marL="175768" indent="-175768" algn="l">
              <a:lnSpc>
                <a:spcPts val="1960"/>
              </a:lnSpc>
              <a:buSzPct val="100000"/>
              <a:buChar char="•"/>
            </a:pPr>
            <a:r>
              <a:rPr lang="en-US" sz="1400" dirty="0">
                <a:solidFill>
                  <a:srgbClr val="2B3644"/>
                </a:solidFill>
                <a:latin typeface="+mj-lt"/>
                <a:ea typeface="IBM Plex Sans" pitchFamily="34" charset="-122"/>
                <a:cs typeface="IBM Plex Sans" pitchFamily="34" charset="-120"/>
              </a:rPr>
              <a:t>Reuse published, validated scales</a:t>
            </a:r>
            <a:endParaRPr lang="en-US" sz="1400" dirty="0">
              <a:latin typeface="+mj-lt"/>
            </a:endParaRPr>
          </a:p>
        </p:txBody>
      </p:sp>
      <p:sp>
        <p:nvSpPr>
          <p:cNvPr id="12" name="Shape 8"/>
          <p:cNvSpPr/>
          <p:nvPr/>
        </p:nvSpPr>
        <p:spPr>
          <a:xfrm>
            <a:off x="7961858" y="1882725"/>
            <a:ext cx="3414167" cy="2739182"/>
          </a:xfrm>
          <a:prstGeom prst="roundRect">
            <a:avLst>
              <a:gd name="adj" fmla="val 3593"/>
            </a:avLst>
          </a:prstGeom>
          <a:solidFill>
            <a:srgbClr val="FFFDF8"/>
          </a:solidFill>
          <a:ln w="6350">
            <a:solidFill>
              <a:srgbClr val="DDD7C9"/>
            </a:solidFill>
            <a:prstDash val="solid"/>
          </a:ln>
        </p:spPr>
      </p:sp>
      <p:pic>
        <p:nvPicPr>
          <p:cNvPr id="13" name="Image 2" descr="Users"/>
          <p:cNvPicPr>
            <a:picLocks noChangeAspect="1"/>
          </p:cNvPicPr>
          <p:nvPr/>
        </p:nvPicPr>
        <p:blipFill>
          <a:blip r:embed="rId5"/>
          <a:srcRect/>
          <a:stretch/>
        </p:blipFill>
        <p:spPr>
          <a:xfrm>
            <a:off x="8193633" y="2114500"/>
            <a:ext cx="304800" cy="304800"/>
          </a:xfrm>
          <a:prstGeom prst="rect">
            <a:avLst/>
          </a:prstGeom>
        </p:spPr>
      </p:pic>
      <p:sp>
        <p:nvSpPr>
          <p:cNvPr id="14" name="Text 9"/>
          <p:cNvSpPr/>
          <p:nvPr/>
        </p:nvSpPr>
        <p:spPr>
          <a:xfrm>
            <a:off x="8193633" y="2520900"/>
            <a:ext cx="3039135"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2A3A"/>
                </a:solidFill>
                <a:latin typeface="+mj-lt"/>
                <a:ea typeface="IBM Plex Sans" pitchFamily="34" charset="-122"/>
                <a:cs typeface="IBM Plex Sans" pitchFamily="34" charset="-120"/>
              </a:rPr>
              <a:t>Data collection</a:t>
            </a:r>
            <a:endParaRPr lang="en-US" sz="1800" dirty="0">
              <a:latin typeface="+mj-lt"/>
            </a:endParaRPr>
          </a:p>
        </p:txBody>
      </p:sp>
      <p:sp>
        <p:nvSpPr>
          <p:cNvPr id="15" name="Text 10"/>
          <p:cNvSpPr/>
          <p:nvPr/>
        </p:nvSpPr>
        <p:spPr>
          <a:xfrm>
            <a:off x="8271865" y="2896791"/>
            <a:ext cx="2953283" cy="1269851"/>
          </a:xfrm>
          <a:prstGeom prst="rect">
            <a:avLst/>
          </a:prstGeom>
          <a:noFill/>
          <a:ln/>
        </p:spPr>
        <p:txBody>
          <a:bodyPr wrap="square" lIns="0" tIns="0" rIns="0" bIns="0" rtlCol="0" anchor="t">
            <a:normAutofit/>
          </a:bodyPr>
          <a:lstStyle/>
          <a:p>
            <a:pPr marL="175768" indent="-175768" algn="l">
              <a:lnSpc>
                <a:spcPts val="1960"/>
              </a:lnSpc>
              <a:buSzPct val="100000"/>
              <a:buChar char="•"/>
            </a:pPr>
            <a:r>
              <a:rPr lang="en-US" sz="1400" dirty="0">
                <a:solidFill>
                  <a:srgbClr val="2B3644"/>
                </a:solidFill>
                <a:latin typeface="+mj-lt"/>
                <a:ea typeface="IBM Plex Sans" pitchFamily="34" charset="-122"/>
                <a:cs typeface="IBM Plex Sans" pitchFamily="34" charset="-120"/>
              </a:rPr>
              <a:t>Share the link or hand out forms</a:t>
            </a:r>
            <a:endParaRPr lang="en-US" sz="1400" dirty="0">
              <a:latin typeface="+mj-lt"/>
            </a:endParaRPr>
          </a:p>
          <a:p>
            <a:pPr marL="175768" indent="-175768" algn="l">
              <a:lnSpc>
                <a:spcPts val="1960"/>
              </a:lnSpc>
              <a:buSzPct val="100000"/>
              <a:buChar char="•"/>
            </a:pPr>
            <a:r>
              <a:rPr lang="en-US" sz="1400" dirty="0">
                <a:solidFill>
                  <a:srgbClr val="2B3644"/>
                </a:solidFill>
                <a:latin typeface="+mj-lt"/>
                <a:ea typeface="IBM Plex Sans" pitchFamily="34" charset="-122"/>
                <a:cs typeface="IBM Plex Sans" pitchFamily="34" charset="-120"/>
              </a:rPr>
              <a:t>Send 1–2 polite reminders</a:t>
            </a:r>
            <a:endParaRPr lang="en-US" sz="1400" dirty="0">
              <a:latin typeface="+mj-lt"/>
            </a:endParaRPr>
          </a:p>
          <a:p>
            <a:pPr marL="175768" indent="-175768" algn="l">
              <a:lnSpc>
                <a:spcPts val="1960"/>
              </a:lnSpc>
              <a:buSzPct val="100000"/>
              <a:buChar char="•"/>
            </a:pPr>
            <a:r>
              <a:rPr lang="en-US" sz="1400" dirty="0">
                <a:solidFill>
                  <a:srgbClr val="2B3644"/>
                </a:solidFill>
                <a:latin typeface="+mj-lt"/>
                <a:ea typeface="IBM Plex Sans" pitchFamily="34" charset="-122"/>
                <a:cs typeface="IBM Plex Sans" pitchFamily="34" charset="-120"/>
              </a:rPr>
              <a:t>Response rate = completed ÷ invited × 100</a:t>
            </a:r>
            <a:endParaRPr lang="en-US" sz="1400" dirty="0">
              <a:latin typeface="+mj-lt"/>
            </a:endParaRPr>
          </a:p>
          <a:p>
            <a:pPr marL="175768" indent="-175768" algn="l">
              <a:lnSpc>
                <a:spcPts val="1960"/>
              </a:lnSpc>
              <a:buSzPct val="100000"/>
              <a:buChar char="•"/>
            </a:pPr>
            <a:r>
              <a:rPr lang="en-US" sz="1400" dirty="0">
                <a:solidFill>
                  <a:srgbClr val="2B3644"/>
                </a:solidFill>
                <a:latin typeface="+mj-lt"/>
                <a:ea typeface="IBM Plex Sans" pitchFamily="34" charset="-122"/>
                <a:cs typeface="IBM Plex Sans" pitchFamily="34" charset="-120"/>
              </a:rPr>
              <a:t>Store data securely from day one</a:t>
            </a:r>
            <a:endParaRPr lang="en-US" sz="1400" dirty="0">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CE8D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60F"/>
                </a:solidFill>
                <a:latin typeface="+mj-lt"/>
                <a:ea typeface="IBM Plex Sans" pitchFamily="34" charset="-122"/>
                <a:cs typeface="IBM Plex Sans" pitchFamily="34" charset="-120"/>
              </a:rPr>
              <a:t>STEPS 7–8 · ANALYSE AND REPORT</a:t>
            </a:r>
            <a:endParaRPr lang="en-US" sz="1200" dirty="0">
              <a:latin typeface="+mj-lt"/>
            </a:endParaRPr>
          </a:p>
        </p:txBody>
      </p:sp>
      <p:sp>
        <p:nvSpPr>
          <p:cNvPr id="3" name="Text 1"/>
          <p:cNvSpPr>
            <a:spLocks noGrp="1"/>
          </p:cNvSpPr>
          <p:nvPr>
            <p:ph type="title"/>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A3A"/>
                </a:solidFill>
                <a:latin typeface="+mj-lt"/>
                <a:ea typeface="Source Serif 4" pitchFamily="18" charset="-122"/>
                <a:cs typeface="Source Serif 4" pitchFamily="18" charset="-120"/>
              </a:rPr>
              <a:t>Analyse the data and report the findings</a:t>
            </a:r>
            <a:endParaRPr lang="en-US" sz="3200" dirty="0">
              <a:latin typeface="+mj-lt"/>
            </a:endParaRPr>
          </a:p>
        </p:txBody>
      </p:sp>
      <p:sp>
        <p:nvSpPr>
          <p:cNvPr id="4" name="Shape 2"/>
          <p:cNvSpPr/>
          <p:nvPr/>
        </p:nvSpPr>
        <p:spPr>
          <a:xfrm>
            <a:off x="815975" y="1882725"/>
            <a:ext cx="6089650" cy="1479451"/>
          </a:xfrm>
          <a:prstGeom prst="roundRect">
            <a:avLst>
              <a:gd name="adj" fmla="val 6653"/>
            </a:avLst>
          </a:prstGeom>
          <a:solidFill>
            <a:srgbClr val="FFFDF8"/>
          </a:solidFill>
          <a:ln w="6350">
            <a:solidFill>
              <a:srgbClr val="D3CCBB"/>
            </a:solidFill>
            <a:prstDash val="solid"/>
          </a:ln>
        </p:spPr>
      </p:sp>
      <p:sp>
        <p:nvSpPr>
          <p:cNvPr id="5" name="Text 3"/>
          <p:cNvSpPr/>
          <p:nvPr/>
        </p:nvSpPr>
        <p:spPr>
          <a:xfrm>
            <a:off x="1022350" y="2089100"/>
            <a:ext cx="584720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A3A"/>
                </a:solidFill>
                <a:latin typeface="+mj-lt"/>
                <a:ea typeface="IBM Plex Sans" pitchFamily="34" charset="-122"/>
                <a:cs typeface="IBM Plex Sans" pitchFamily="34" charset="-120"/>
              </a:rPr>
              <a:t>Clean and code</a:t>
            </a:r>
            <a:endParaRPr lang="en-US" sz="1600" dirty="0">
              <a:latin typeface="+mj-lt"/>
            </a:endParaRPr>
          </a:p>
        </p:txBody>
      </p:sp>
      <p:sp>
        <p:nvSpPr>
          <p:cNvPr id="6" name="Text 4"/>
          <p:cNvSpPr/>
          <p:nvPr/>
        </p:nvSpPr>
        <p:spPr>
          <a:xfrm>
            <a:off x="1100582" y="2409130"/>
            <a:ext cx="5761355" cy="772071"/>
          </a:xfrm>
          <a:prstGeom prst="rect">
            <a:avLst/>
          </a:prstGeom>
          <a:noFill/>
          <a:ln/>
        </p:spPr>
        <p:txBody>
          <a:bodyPr wrap="square" lIns="0" tIns="0" rIns="0" bIns="0" rtlCol="0" anchor="t">
            <a:normAutofit/>
          </a:bodyPr>
          <a:lstStyle/>
          <a:p>
            <a:pPr marL="175768" indent="-175768" algn="l">
              <a:lnSpc>
                <a:spcPts val="1960"/>
              </a:lnSpc>
              <a:buSzPct val="100000"/>
              <a:buChar char="•"/>
            </a:pPr>
            <a:r>
              <a:rPr lang="en-US" sz="1400" dirty="0">
                <a:solidFill>
                  <a:srgbClr val="2B3644"/>
                </a:solidFill>
                <a:latin typeface="+mj-lt"/>
                <a:ea typeface="IBM Plex Sans" pitchFamily="34" charset="-122"/>
                <a:cs typeface="IBM Plex Sans" pitchFamily="34" charset="-120"/>
              </a:rPr>
              <a:t>Remove incomplete or duplicate responses</a:t>
            </a:r>
            <a:endParaRPr lang="en-US" sz="1400" dirty="0">
              <a:latin typeface="+mj-lt"/>
            </a:endParaRPr>
          </a:p>
          <a:p>
            <a:pPr marL="175768" indent="-175768" algn="l">
              <a:lnSpc>
                <a:spcPts val="1960"/>
              </a:lnSpc>
              <a:buSzPct val="100000"/>
              <a:buChar char="•"/>
            </a:pPr>
            <a:r>
              <a:rPr lang="en-US" sz="1400" dirty="0">
                <a:solidFill>
                  <a:srgbClr val="2B3644"/>
                </a:solidFill>
                <a:latin typeface="+mj-lt"/>
                <a:ea typeface="IBM Plex Sans" pitchFamily="34" charset="-122"/>
                <a:cs typeface="IBM Plex Sans" pitchFamily="34" charset="-120"/>
              </a:rPr>
              <a:t>Code answers as numbers (Strongly agree = 5)</a:t>
            </a:r>
            <a:endParaRPr lang="en-US" sz="1400" dirty="0">
              <a:latin typeface="+mj-lt"/>
            </a:endParaRPr>
          </a:p>
          <a:p>
            <a:pPr marL="175768" indent="-175768" algn="l">
              <a:lnSpc>
                <a:spcPts val="1960"/>
              </a:lnSpc>
              <a:buSzPct val="100000"/>
              <a:buChar char="•"/>
            </a:pPr>
            <a:r>
              <a:rPr lang="en-US" sz="1400" dirty="0">
                <a:solidFill>
                  <a:srgbClr val="2B3644"/>
                </a:solidFill>
                <a:latin typeface="+mj-lt"/>
                <a:ea typeface="IBM Plex Sans" pitchFamily="34" charset="-122"/>
                <a:cs typeface="IBM Plex Sans" pitchFamily="34" charset="-120"/>
              </a:rPr>
              <a:t>Check missing values and outliers</a:t>
            </a:r>
            <a:endParaRPr lang="en-US" sz="1400" dirty="0">
              <a:latin typeface="+mj-lt"/>
            </a:endParaRPr>
          </a:p>
        </p:txBody>
      </p:sp>
      <p:sp>
        <p:nvSpPr>
          <p:cNvPr id="7" name="Shape 5"/>
          <p:cNvSpPr/>
          <p:nvPr/>
        </p:nvSpPr>
        <p:spPr>
          <a:xfrm>
            <a:off x="815975" y="3520926"/>
            <a:ext cx="6089650" cy="1880741"/>
          </a:xfrm>
          <a:prstGeom prst="roundRect">
            <a:avLst>
              <a:gd name="adj" fmla="val 5233"/>
            </a:avLst>
          </a:prstGeom>
          <a:solidFill>
            <a:srgbClr val="FFFDF8"/>
          </a:solidFill>
          <a:ln w="6350">
            <a:solidFill>
              <a:srgbClr val="D3CCBB"/>
            </a:solidFill>
            <a:prstDash val="solid"/>
          </a:ln>
        </p:spPr>
      </p:sp>
      <p:sp>
        <p:nvSpPr>
          <p:cNvPr id="8" name="Text 6"/>
          <p:cNvSpPr/>
          <p:nvPr/>
        </p:nvSpPr>
        <p:spPr>
          <a:xfrm>
            <a:off x="1022350" y="3727301"/>
            <a:ext cx="584720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A3A"/>
                </a:solidFill>
                <a:latin typeface="+mj-lt"/>
                <a:ea typeface="IBM Plex Sans" pitchFamily="34" charset="-122"/>
                <a:cs typeface="IBM Plex Sans" pitchFamily="34" charset="-120"/>
              </a:rPr>
              <a:t>Analyse</a:t>
            </a:r>
            <a:endParaRPr lang="en-US" sz="1600" dirty="0">
              <a:latin typeface="+mj-lt"/>
            </a:endParaRPr>
          </a:p>
        </p:txBody>
      </p:sp>
      <p:sp>
        <p:nvSpPr>
          <p:cNvPr id="9" name="Text 7"/>
          <p:cNvSpPr/>
          <p:nvPr/>
        </p:nvSpPr>
        <p:spPr>
          <a:xfrm>
            <a:off x="1022350" y="4047331"/>
            <a:ext cx="1447800" cy="52318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460F"/>
                </a:solidFill>
                <a:latin typeface="+mj-lt"/>
                <a:ea typeface="IBM Plex Sans" pitchFamily="34" charset="-122"/>
                <a:cs typeface="IBM Plex Sans" pitchFamily="34" charset="-120"/>
              </a:rPr>
              <a:t>Descriptive</a:t>
            </a:r>
            <a:endParaRPr lang="en-US" sz="1400" dirty="0">
              <a:latin typeface="+mj-lt"/>
            </a:endParaRPr>
          </a:p>
        </p:txBody>
      </p:sp>
      <p:sp>
        <p:nvSpPr>
          <p:cNvPr id="10" name="Text 8"/>
          <p:cNvSpPr/>
          <p:nvPr/>
        </p:nvSpPr>
        <p:spPr>
          <a:xfrm>
            <a:off x="2571750" y="4047331"/>
            <a:ext cx="4251325"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B3644"/>
                </a:solidFill>
                <a:latin typeface="+mj-lt"/>
                <a:ea typeface="IBM Plex Sans" pitchFamily="34" charset="-122"/>
                <a:cs typeface="IBM Plex Sans" pitchFamily="34" charset="-120"/>
              </a:rPr>
              <a:t>Frequencies, percentages, mean, standard deviation</a:t>
            </a:r>
            <a:endParaRPr lang="en-US" sz="1400" dirty="0">
              <a:latin typeface="+mj-lt"/>
            </a:endParaRPr>
          </a:p>
        </p:txBody>
      </p:sp>
      <p:sp>
        <p:nvSpPr>
          <p:cNvPr id="11" name="Text 9"/>
          <p:cNvSpPr/>
          <p:nvPr/>
        </p:nvSpPr>
        <p:spPr>
          <a:xfrm>
            <a:off x="1022350" y="4621312"/>
            <a:ext cx="144780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460F"/>
                </a:solidFill>
                <a:latin typeface="+mj-lt"/>
                <a:ea typeface="IBM Plex Sans" pitchFamily="34" charset="-122"/>
                <a:cs typeface="IBM Plex Sans" pitchFamily="34" charset="-120"/>
              </a:rPr>
              <a:t>Inferential</a:t>
            </a:r>
            <a:endParaRPr lang="en-US" sz="1400" dirty="0">
              <a:latin typeface="+mj-lt"/>
            </a:endParaRPr>
          </a:p>
        </p:txBody>
      </p:sp>
      <p:sp>
        <p:nvSpPr>
          <p:cNvPr id="12" name="Text 10"/>
          <p:cNvSpPr/>
          <p:nvPr/>
        </p:nvSpPr>
        <p:spPr>
          <a:xfrm>
            <a:off x="2571750" y="4621312"/>
            <a:ext cx="4251325"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B3644"/>
                </a:solidFill>
                <a:latin typeface="+mj-lt"/>
                <a:ea typeface="IBM Plex Sans" pitchFamily="34" charset="-122"/>
                <a:cs typeface="IBM Plex Sans" pitchFamily="34" charset="-120"/>
              </a:rPr>
              <a:t>Chi-square, t-test, ANOVA, correlation, regression</a:t>
            </a:r>
            <a:endParaRPr lang="en-US" sz="1400" dirty="0">
              <a:latin typeface="+mj-lt"/>
            </a:endParaRPr>
          </a:p>
        </p:txBody>
      </p:sp>
      <p:sp>
        <p:nvSpPr>
          <p:cNvPr id="13" name="Text 11"/>
          <p:cNvSpPr/>
          <p:nvPr/>
        </p:nvSpPr>
        <p:spPr>
          <a:xfrm>
            <a:off x="1022350" y="4946402"/>
            <a:ext cx="144780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460F"/>
                </a:solidFill>
                <a:latin typeface="+mj-lt"/>
                <a:ea typeface="IBM Plex Sans" pitchFamily="34" charset="-122"/>
                <a:cs typeface="IBM Plex Sans" pitchFamily="34" charset="-120"/>
              </a:rPr>
              <a:t>Software</a:t>
            </a:r>
            <a:endParaRPr lang="en-US" sz="1400" dirty="0">
              <a:latin typeface="+mj-lt"/>
            </a:endParaRPr>
          </a:p>
        </p:txBody>
      </p:sp>
      <p:sp>
        <p:nvSpPr>
          <p:cNvPr id="14" name="Text 12"/>
          <p:cNvSpPr/>
          <p:nvPr/>
        </p:nvSpPr>
        <p:spPr>
          <a:xfrm>
            <a:off x="2571750" y="4946402"/>
            <a:ext cx="4251325"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B3644"/>
                </a:solidFill>
                <a:latin typeface="+mj-lt"/>
                <a:ea typeface="IBM Plex Sans" pitchFamily="34" charset="-122"/>
                <a:cs typeface="IBM Plex Sans" pitchFamily="34" charset="-120"/>
              </a:rPr>
              <a:t>SPSS, Excel, R, Jamovi</a:t>
            </a:r>
            <a:endParaRPr lang="en-US" sz="1400" dirty="0">
              <a:latin typeface="+mj-lt"/>
            </a:endParaRPr>
          </a:p>
        </p:txBody>
      </p:sp>
      <p:sp>
        <p:nvSpPr>
          <p:cNvPr id="15" name="Shape 13"/>
          <p:cNvSpPr/>
          <p:nvPr/>
        </p:nvSpPr>
        <p:spPr>
          <a:xfrm>
            <a:off x="7213600" y="1879550"/>
            <a:ext cx="4165600" cy="3525292"/>
          </a:xfrm>
          <a:prstGeom prst="roundRect">
            <a:avLst>
              <a:gd name="adj" fmla="val 2882"/>
            </a:avLst>
          </a:prstGeom>
          <a:solidFill>
            <a:srgbClr val="1B2A3A"/>
          </a:solidFill>
          <a:ln/>
        </p:spPr>
      </p:sp>
      <p:sp>
        <p:nvSpPr>
          <p:cNvPr id="16" name="Text 14"/>
          <p:cNvSpPr/>
          <p:nvPr/>
        </p:nvSpPr>
        <p:spPr>
          <a:xfrm>
            <a:off x="7442200" y="2108150"/>
            <a:ext cx="381965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6F4EE"/>
                </a:solidFill>
                <a:latin typeface="+mj-lt"/>
                <a:ea typeface="IBM Plex Sans" pitchFamily="34" charset="-122"/>
                <a:cs typeface="IBM Plex Sans" pitchFamily="34" charset="-120"/>
              </a:rPr>
              <a:t>Report structure</a:t>
            </a:r>
            <a:endParaRPr lang="en-US" sz="1600" dirty="0">
              <a:latin typeface="+mj-lt"/>
            </a:endParaRPr>
          </a:p>
        </p:txBody>
      </p:sp>
      <p:sp>
        <p:nvSpPr>
          <p:cNvPr id="17" name="Text 15"/>
          <p:cNvSpPr/>
          <p:nvPr/>
        </p:nvSpPr>
        <p:spPr>
          <a:xfrm>
            <a:off x="7499152" y="2453580"/>
            <a:ext cx="3755080" cy="1518741"/>
          </a:xfrm>
          <a:prstGeom prst="rect">
            <a:avLst/>
          </a:prstGeom>
          <a:noFill/>
          <a:ln/>
        </p:spPr>
        <p:txBody>
          <a:bodyPr wrap="square" lIns="0" tIns="0" rIns="0" bIns="0" rtlCol="0" anchor="t">
            <a:normAutofit/>
          </a:bodyPr>
          <a:lstStyle/>
          <a:p>
            <a:pPr marL="197048" indent="-197048" algn="l">
              <a:lnSpc>
                <a:spcPts val="1960"/>
              </a:lnSpc>
              <a:buSzPct val="100000"/>
              <a:buFontTx/>
              <a:buAutoNum type="arabicPeriod"/>
            </a:pPr>
            <a:r>
              <a:rPr lang="en-US" sz="1400" dirty="0">
                <a:solidFill>
                  <a:srgbClr val="E6EBF0"/>
                </a:solidFill>
                <a:latin typeface="+mj-lt"/>
                <a:ea typeface="IBM Plex Sans" pitchFamily="34" charset="-122"/>
                <a:cs typeface="IBM Plex Sans" pitchFamily="34" charset="-120"/>
              </a:rPr>
              <a:t>Introduction and objectives</a:t>
            </a:r>
            <a:endParaRPr lang="en-US" sz="1400" dirty="0">
              <a:latin typeface="+mj-lt"/>
            </a:endParaRPr>
          </a:p>
          <a:p>
            <a:pPr marL="197048" indent="-197048" algn="l">
              <a:lnSpc>
                <a:spcPts val="1960"/>
              </a:lnSpc>
              <a:buSzPct val="100000"/>
              <a:buFontTx/>
              <a:buAutoNum type="arabicPeriod"/>
            </a:pPr>
            <a:r>
              <a:rPr lang="en-US" sz="1400" dirty="0">
                <a:solidFill>
                  <a:srgbClr val="E6EBF0"/>
                </a:solidFill>
                <a:latin typeface="+mj-lt"/>
                <a:ea typeface="IBM Plex Sans" pitchFamily="34" charset="-122"/>
                <a:cs typeface="IBM Plex Sans" pitchFamily="34" charset="-120"/>
              </a:rPr>
              <a:t>Methods: sample, questionnaire, ethics</a:t>
            </a:r>
            <a:endParaRPr lang="en-US" sz="1400" dirty="0">
              <a:latin typeface="+mj-lt"/>
            </a:endParaRPr>
          </a:p>
          <a:p>
            <a:pPr marL="197048" indent="-197048" algn="l">
              <a:lnSpc>
                <a:spcPts val="1960"/>
              </a:lnSpc>
              <a:buSzPct val="100000"/>
              <a:buFontTx/>
              <a:buAutoNum type="arabicPeriod"/>
            </a:pPr>
            <a:r>
              <a:rPr lang="en-US" sz="1400" dirty="0">
                <a:solidFill>
                  <a:srgbClr val="E6EBF0"/>
                </a:solidFill>
                <a:latin typeface="+mj-lt"/>
                <a:ea typeface="IBM Plex Sans" pitchFamily="34" charset="-122"/>
                <a:cs typeface="IBM Plex Sans" pitchFamily="34" charset="-120"/>
              </a:rPr>
              <a:t>Results with tables and charts</a:t>
            </a:r>
            <a:endParaRPr lang="en-US" sz="1400" dirty="0">
              <a:latin typeface="+mj-lt"/>
            </a:endParaRPr>
          </a:p>
          <a:p>
            <a:pPr marL="197048" indent="-197048" algn="l">
              <a:lnSpc>
                <a:spcPts val="1960"/>
              </a:lnSpc>
              <a:buSzPct val="100000"/>
              <a:buFontTx/>
              <a:buAutoNum type="arabicPeriod"/>
            </a:pPr>
            <a:r>
              <a:rPr lang="en-US" sz="1400" dirty="0">
                <a:solidFill>
                  <a:srgbClr val="E6EBF0"/>
                </a:solidFill>
                <a:latin typeface="+mj-lt"/>
                <a:ea typeface="IBM Plex Sans" pitchFamily="34" charset="-122"/>
                <a:cs typeface="IBM Plex Sans" pitchFamily="34" charset="-120"/>
              </a:rPr>
              <a:t>Discussion linked to literature</a:t>
            </a:r>
            <a:endParaRPr lang="en-US" sz="1400" dirty="0">
              <a:latin typeface="+mj-lt"/>
            </a:endParaRPr>
          </a:p>
          <a:p>
            <a:pPr marL="197048" indent="-197048" algn="l">
              <a:lnSpc>
                <a:spcPts val="1960"/>
              </a:lnSpc>
              <a:buSzPct val="100000"/>
              <a:buFontTx/>
              <a:buAutoNum type="arabicPeriod"/>
            </a:pPr>
            <a:r>
              <a:rPr lang="en-US" sz="1400" dirty="0">
                <a:solidFill>
                  <a:srgbClr val="E6EBF0"/>
                </a:solidFill>
                <a:latin typeface="+mj-lt"/>
                <a:ea typeface="IBM Plex Sans" pitchFamily="34" charset="-122"/>
                <a:cs typeface="IBM Plex Sans" pitchFamily="34" charset="-120"/>
              </a:rPr>
              <a:t>Limitations</a:t>
            </a:r>
            <a:endParaRPr lang="en-US" sz="1400" dirty="0">
              <a:latin typeface="+mj-lt"/>
            </a:endParaRPr>
          </a:p>
          <a:p>
            <a:pPr marL="197048" indent="-197048" algn="l">
              <a:lnSpc>
                <a:spcPts val="1960"/>
              </a:lnSpc>
              <a:buSzPct val="100000"/>
              <a:buFontTx/>
              <a:buAutoNum type="arabicPeriod"/>
            </a:pPr>
            <a:r>
              <a:rPr lang="en-US" sz="1400" dirty="0">
                <a:solidFill>
                  <a:srgbClr val="E6EBF0"/>
                </a:solidFill>
                <a:latin typeface="+mj-lt"/>
                <a:ea typeface="IBM Plex Sans" pitchFamily="34" charset="-122"/>
                <a:cs typeface="IBM Plex Sans" pitchFamily="34" charset="-120"/>
              </a:rPr>
              <a:t>Conclusion and recommendations</a:t>
            </a:r>
            <a:endParaRPr lang="en-US" sz="1400" dirty="0">
              <a:latin typeface="+mj-lt"/>
            </a:endParaRPr>
          </a:p>
        </p:txBody>
      </p:sp>
      <p:sp>
        <p:nvSpPr>
          <p:cNvPr id="18" name="Text 16"/>
          <p:cNvSpPr/>
          <p:nvPr/>
        </p:nvSpPr>
        <p:spPr>
          <a:xfrm>
            <a:off x="7442200" y="4678462"/>
            <a:ext cx="3819652" cy="523180"/>
          </a:xfrm>
          <a:prstGeom prst="rect">
            <a:avLst/>
          </a:prstGeom>
          <a:noFill/>
          <a:ln/>
        </p:spPr>
        <p:txBody>
          <a:bodyPr wrap="square" lIns="0" tIns="0" rIns="0" bIns="0" rtlCol="0" anchor="t">
            <a:normAutofit/>
          </a:bodyPr>
          <a:lstStyle/>
          <a:p>
            <a:pPr marL="0" indent="0" algn="l">
              <a:lnSpc>
                <a:spcPts val="1960"/>
              </a:lnSpc>
              <a:buNone/>
            </a:pPr>
            <a:r>
              <a:rPr lang="en-US" sz="1400" i="1" dirty="0">
                <a:solidFill>
                  <a:srgbClr val="F0A46A"/>
                </a:solidFill>
                <a:latin typeface="+mj-lt"/>
                <a:ea typeface="Source Serif 4" pitchFamily="18" charset="-122"/>
                <a:cs typeface="Source Serif 4" pitchFamily="18" charset="-120"/>
              </a:rPr>
              <a:t>Good survey = clear objectives + right sample + good questions + ethics.</a:t>
            </a:r>
            <a:endParaRPr lang="en-US" sz="1400" dirty="0">
              <a:latin typeface="+mj-lt"/>
            </a:endParaRPr>
          </a:p>
        </p:txBody>
      </p:sp>
    </p:spTree>
  </p:cSld>
  <p:clrMapOvr>
    <a:masterClrMapping/>
  </p:clrMapOvr>
</p:sld>
</file>

<file path=ppt/theme/theme1.xml><?xml version="1.0" encoding="utf-8"?>
<a:theme xmlns:a="http://schemas.openxmlformats.org/drawingml/2006/main" name="Survey Research">
  <a:themeElements>
    <a:clrScheme name="Survey Research">
      <a:dk1>
        <a:srgbClr val="1B2A3A"/>
      </a:dk1>
      <a:lt1>
        <a:srgbClr val="F6F4EE"/>
      </a:lt1>
      <a:dk2>
        <a:srgbClr val="525D67"/>
      </a:dk2>
      <a:lt2>
        <a:srgbClr val="E0E0DC"/>
      </a:lt2>
      <a:accent1>
        <a:srgbClr val="A8460F"/>
      </a:accent1>
      <a:accent2>
        <a:srgbClr val="F0A46A"/>
      </a:accent2>
      <a:accent3>
        <a:srgbClr val="E8955A"/>
      </a:accent3>
      <a:accent4>
        <a:srgbClr val="1F4D3A"/>
      </a:accent4>
      <a:accent5>
        <a:srgbClr val="8A3A0C"/>
      </a:accent5>
      <a:accent6>
        <a:srgbClr val="3E4A57"/>
      </a:accent6>
      <a:hlink>
        <a:srgbClr val="0563C1"/>
      </a:hlink>
      <a:folHlink>
        <a:srgbClr val="954F7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TotalTime>
  <Words>2034</Words>
  <Application>Microsoft Office PowerPoint</Application>
  <PresentationFormat>Widescreen</PresentationFormat>
  <Paragraphs>245</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IBM Plex Sans</vt:lpstr>
      <vt:lpstr>Source Serif 4</vt:lpstr>
      <vt:lpstr>Times New Roman</vt:lpstr>
      <vt:lpstr>Survey Research</vt:lpstr>
      <vt:lpstr>Survey Research</vt:lpstr>
      <vt:lpstr>What is survey research?</vt:lpstr>
      <vt:lpstr>The survey process in eight steps</vt:lpstr>
      <vt:lpstr>Start with a clear research problem</vt:lpstr>
      <vt:lpstr>Who will you ask, and how many?</vt:lpstr>
      <vt:lpstr>Writing good questions</vt:lpstr>
      <vt:lpstr>Structure, order and survey mode</vt:lpstr>
      <vt:lpstr>Get ethical approval first</vt:lpstr>
      <vt:lpstr>Test it, then collect the data</vt:lpstr>
      <vt:lpstr>Analyse the data and report the findings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Survey Research</dc:title>
  <dc:subject/>
  <dc:creator/>
  <cp:lastModifiedBy>Ahsan Waqar</cp:lastModifiedBy>
  <cp:revision>5</cp:revision>
  <dcterms:created xsi:type="dcterms:W3CDTF">2026-10-11T19:11:23Z</dcterms:created>
  <dcterms:modified xsi:type="dcterms:W3CDTF">2026-10-14T08:48:38Z</dcterms:modified>
</cp:coreProperties>
</file>